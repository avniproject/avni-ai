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16J2rNyrfh1LgT/XsSJxQWtcG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customschemas.google.com/relationships/presentationmetadata" Target="metadata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05d493793_2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g3e05d493793_2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Hook: 'We're building an AI configurator for Avni. This talk isn't about that — it's about three things we learnt while building Agentic Workflows.'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Tone: honest, peer-to-peer.</a:t>
            </a:r>
            <a:endParaRPr/>
          </a:p>
        </p:txBody>
      </p:sp>
      <p:sp>
        <p:nvSpPr>
          <p:cNvPr id="83" name="Google Shape;83;g3e05d493793_2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05d493793_2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g3e05d493793_2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05d493793_2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60a615971_2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60a615971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05d493793_2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g3e05d493793_2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05d493793_2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60a615971_2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60a615971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5d493793_2_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g3e05d493793_2_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05d493793_2_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60a615971_2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60a615971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05d493793_2_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e05d493793_2_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05d493793_2_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60a615971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60a615971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https://cloud.dify.ai/app/0b859aeb-9c7b-4881-b9fc-3769e64de168/workflow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05d493793_2_1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e05d493793_2_1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05d493793_2_1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60a615971_2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60a61597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05d493793_2_1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g3e05d493793_2_1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05d493793_2_1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" name="Google Shape;4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" name="Google Shape;7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75" y="6391550"/>
            <a:ext cx="1396225" cy="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Ebs3UEeDnY1P35Ws98y8ZVJ1Hr7-ybXC/view" TargetMode="Externa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DY6_beCgXWZbcqJkZhaV9TekwqA8sT0z/view" TargetMode="External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Lw6YdUKNQgcAoRgl3rhqI_2xh49GAhJT/view" TargetMode="External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05d493793_2_0"/>
          <p:cNvSpPr/>
          <p:nvPr/>
        </p:nvSpPr>
        <p:spPr>
          <a:xfrm>
            <a:off x="457200" y="2743200"/>
            <a:ext cx="164592" cy="16459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e05d493793_2_0"/>
          <p:cNvSpPr txBox="1"/>
          <p:nvPr/>
        </p:nvSpPr>
        <p:spPr>
          <a:xfrm>
            <a:off x="822960" y="2286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T4D AI COHORT 2  ·  MIDPOINT SHOWCASE</a:t>
            </a:r>
            <a:endParaRPr/>
          </a:p>
        </p:txBody>
      </p:sp>
      <p:sp>
        <p:nvSpPr>
          <p:cNvPr id="87" name="Google Shape;87;g3e05d493793_2_0"/>
          <p:cNvSpPr txBox="1"/>
          <p:nvPr/>
        </p:nvSpPr>
        <p:spPr>
          <a:xfrm>
            <a:off x="822960" y="27432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Building Generative AI Workflows:</a:t>
            </a:r>
            <a:endParaRPr/>
          </a:p>
        </p:txBody>
      </p:sp>
      <p:sp>
        <p:nvSpPr>
          <p:cNvPr id="88" name="Google Shape;88;g3e05d493793_2_0"/>
          <p:cNvSpPr txBox="1"/>
          <p:nvPr/>
        </p:nvSpPr>
        <p:spPr>
          <a:xfrm>
            <a:off x="822960" y="3474720"/>
            <a:ext cx="1097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Deterministic Rails, Agentic </a:t>
            </a:r>
            <a:r>
              <a:rPr b="1" lang="en-US" sz="38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Judgement</a:t>
            </a:r>
            <a:endParaRPr/>
          </a:p>
        </p:txBody>
      </p:sp>
      <p:sp>
        <p:nvSpPr>
          <p:cNvPr id="89" name="Google Shape;89;g3e05d493793_2_0"/>
          <p:cNvSpPr txBox="1"/>
          <p:nvPr/>
        </p:nvSpPr>
        <p:spPr>
          <a:xfrm>
            <a:off x="822960" y="45720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Lessons from Avni App Configurator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05d493793_2_12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05d493793_2_12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97" name="Google Shape;97;g3e05d493793_2_12"/>
          <p:cNvSpPr txBox="1"/>
          <p:nvPr/>
        </p:nvSpPr>
        <p:spPr>
          <a:xfrm>
            <a:off x="731520" y="841248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Why a chat-first AI configurator for Avni</a:t>
            </a:r>
            <a:endParaRPr/>
          </a:p>
        </p:txBody>
      </p:sp>
      <p:sp>
        <p:nvSpPr>
          <p:cNvPr id="98" name="Google Shape;98;g3e05d493793_2_1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2 / 7</a:t>
            </a:r>
            <a:endParaRPr/>
          </a:p>
        </p:txBody>
      </p:sp>
      <p:sp>
        <p:nvSpPr>
          <p:cNvPr id="99" name="Google Shape;99;g3e05d493793_2_12"/>
          <p:cNvSpPr/>
          <p:nvPr/>
        </p:nvSpPr>
        <p:spPr>
          <a:xfrm>
            <a:off x="731520" y="1490836"/>
            <a:ext cx="5303400" cy="118860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e05d493793_2_12"/>
          <p:cNvSpPr txBox="1"/>
          <p:nvPr/>
        </p:nvSpPr>
        <p:spPr>
          <a:xfrm>
            <a:off x="1005840" y="1600200"/>
            <a:ext cx="475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7C02"/>
                </a:solidFill>
                <a:latin typeface="Calibri"/>
                <a:ea typeface="Calibri"/>
                <a:cs typeface="Calibri"/>
                <a:sym typeface="Calibri"/>
              </a:rPr>
              <a:t>Manual webapp config</a:t>
            </a:r>
            <a:endParaRPr/>
          </a:p>
        </p:txBody>
      </p:sp>
      <p:sp>
        <p:nvSpPr>
          <p:cNvPr id="101" name="Google Shape;101;g3e05d493793_2_12"/>
          <p:cNvSpPr txBox="1"/>
          <p:nvPr/>
        </p:nvSpPr>
        <p:spPr>
          <a:xfrm>
            <a:off x="1005840" y="2054319"/>
            <a:ext cx="475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Click-by-click through Avni UI.</a:t>
            </a:r>
            <a:b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Avni expertise required.  Consistency on the user.</a:t>
            </a:r>
            <a:endParaRPr/>
          </a:p>
        </p:txBody>
      </p:sp>
      <p:sp>
        <p:nvSpPr>
          <p:cNvPr id="102" name="Google Shape;102;g3e05d493793_2_12"/>
          <p:cNvSpPr/>
          <p:nvPr/>
        </p:nvSpPr>
        <p:spPr>
          <a:xfrm>
            <a:off x="6217920" y="1490836"/>
            <a:ext cx="5303400" cy="118860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e05d493793_2_12"/>
          <p:cNvSpPr txBox="1"/>
          <p:nvPr/>
        </p:nvSpPr>
        <p:spPr>
          <a:xfrm>
            <a:off x="6492240" y="16002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7C02"/>
                </a:solidFill>
                <a:latin typeface="Calibri"/>
                <a:ea typeface="Calibri"/>
                <a:cs typeface="Calibri"/>
                <a:sym typeface="Calibri"/>
              </a:rPr>
              <a:t>IDE-based AI  (Cursor, Claude Code)</a:t>
            </a:r>
            <a:endParaRPr/>
          </a:p>
        </p:txBody>
      </p:sp>
      <p:sp>
        <p:nvSpPr>
          <p:cNvPr id="104" name="Google Shape;104;g3e05d493793_2_12"/>
          <p:cNvSpPr txBox="1"/>
          <p:nvPr/>
        </p:nvSpPr>
        <p:spPr>
          <a:xfrm>
            <a:off x="6492115" y="2054331"/>
            <a:ext cx="475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Developer-only.  Decoupled from Avni.</a:t>
            </a:r>
            <a:b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Quality varies with AI + user effort.</a:t>
            </a:r>
            <a:endParaRPr/>
          </a:p>
        </p:txBody>
      </p:sp>
      <p:sp>
        <p:nvSpPr>
          <p:cNvPr id="105" name="Google Shape;105;g3e05d493793_2_12"/>
          <p:cNvSpPr/>
          <p:nvPr/>
        </p:nvSpPr>
        <p:spPr>
          <a:xfrm>
            <a:off x="731525" y="2893950"/>
            <a:ext cx="10789800" cy="345930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e05d493793_2_12"/>
          <p:cNvSpPr txBox="1"/>
          <p:nvPr/>
        </p:nvSpPr>
        <p:spPr>
          <a:xfrm>
            <a:off x="1005840" y="3076823"/>
            <a:ext cx="1024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Our AI App Configurator  —  chat-first, not click-first</a:t>
            </a:r>
            <a:endParaRPr/>
          </a:p>
        </p:txBody>
      </p:sp>
      <p:sp>
        <p:nvSpPr>
          <p:cNvPr id="107" name="Google Shape;107;g3e05d493793_2_12"/>
          <p:cNvSpPr txBox="1"/>
          <p:nvPr/>
        </p:nvSpPr>
        <p:spPr>
          <a:xfrm>
            <a:off x="1005840" y="3551946"/>
            <a:ext cx="10241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Chat-first.  No webapp, no code, no Avni expert.</a:t>
            </a:r>
            <a:b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Program managers drive the setup themselves.</a:t>
            </a:r>
            <a:r>
              <a:rPr lang="en-US" sz="16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Schema validation + guardrails in the flow, not LLM judgment.</a:t>
            </a:r>
            <a:b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Deterministic pipeline  →  reproducible, auditable bundles.</a:t>
            </a:r>
            <a:b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Earlier it used to take few hours for average form creation, now that gets done in few minutes</a:t>
            </a:r>
            <a:endParaRPr sz="16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Usage is high during initial setup and sporadic usage later on</a:t>
            </a:r>
            <a:endParaRPr sz="16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05d493793_2_12"/>
          <p:cNvSpPr txBox="1"/>
          <p:nvPr/>
        </p:nvSpPr>
        <p:spPr>
          <a:xfrm>
            <a:off x="752525" y="6387147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Looks like an LLM problem.  Most of it is deterministic.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e60a615971_2_28" title="small_app_configuration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13700"/>
            <a:ext cx="12191675" cy="594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e60a615971_2_28"/>
          <p:cNvSpPr/>
          <p:nvPr/>
        </p:nvSpPr>
        <p:spPr>
          <a:xfrm>
            <a:off x="283566" y="85005"/>
            <a:ext cx="109800" cy="640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e60a615971_2_28"/>
          <p:cNvSpPr txBox="1"/>
          <p:nvPr/>
        </p:nvSpPr>
        <p:spPr>
          <a:xfrm>
            <a:off x="568061" y="143497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Avni App Configuration complexity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05d493793_2_30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05d493793_2_30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/>
          </a:p>
        </p:txBody>
      </p:sp>
      <p:sp>
        <p:nvSpPr>
          <p:cNvPr id="123" name="Google Shape;123;g3e05d493793_2_30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Tier architecture  —  user chat down to the database</a:t>
            </a:r>
            <a:endParaRPr/>
          </a:p>
        </p:txBody>
      </p:sp>
      <p:sp>
        <p:nvSpPr>
          <p:cNvPr id="124" name="Google Shape;124;g3e05d493793_2_30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3 / 7</a:t>
            </a:r>
            <a:endParaRPr/>
          </a:p>
        </p:txBody>
      </p:sp>
      <p:sp>
        <p:nvSpPr>
          <p:cNvPr id="125" name="Google Shape;125;g3e05d493793_2_30"/>
          <p:cNvSpPr/>
          <p:nvPr/>
        </p:nvSpPr>
        <p:spPr>
          <a:xfrm>
            <a:off x="731520" y="1371600"/>
            <a:ext cx="10789800" cy="73140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e05d493793_2_30"/>
          <p:cNvSpPr txBox="1"/>
          <p:nvPr/>
        </p:nvSpPr>
        <p:spPr>
          <a:xfrm>
            <a:off x="1005840" y="15361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/>
          </a:p>
        </p:txBody>
      </p:sp>
      <p:sp>
        <p:nvSpPr>
          <p:cNvPr id="127" name="Google Shape;127;g3e05d493793_2_30"/>
          <p:cNvSpPr/>
          <p:nvPr/>
        </p:nvSpPr>
        <p:spPr>
          <a:xfrm>
            <a:off x="3383280" y="1536192"/>
            <a:ext cx="18288" cy="402336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e05d493793_2_30"/>
          <p:cNvSpPr txBox="1"/>
          <p:nvPr/>
        </p:nvSpPr>
        <p:spPr>
          <a:xfrm>
            <a:off x="3566160" y="1536192"/>
            <a:ext cx="7680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Program manager  ·  chat-first,  no code</a:t>
            </a:r>
            <a:endParaRPr/>
          </a:p>
        </p:txBody>
      </p:sp>
      <p:sp>
        <p:nvSpPr>
          <p:cNvPr id="129" name="Google Shape;129;g3e05d493793_2_30"/>
          <p:cNvSpPr/>
          <p:nvPr/>
        </p:nvSpPr>
        <p:spPr>
          <a:xfrm>
            <a:off x="5806440" y="2121408"/>
            <a:ext cx="2742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B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05d493793_2_30"/>
          <p:cNvSpPr txBox="1"/>
          <p:nvPr/>
        </p:nvSpPr>
        <p:spPr>
          <a:xfrm>
            <a:off x="6217920" y="212140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chat messages</a:t>
            </a:r>
            <a:endParaRPr/>
          </a:p>
        </p:txBody>
      </p:sp>
      <p:sp>
        <p:nvSpPr>
          <p:cNvPr id="131" name="Google Shape;131;g3e05d493793_2_30"/>
          <p:cNvSpPr/>
          <p:nvPr/>
        </p:nvSpPr>
        <p:spPr>
          <a:xfrm>
            <a:off x="731520" y="2359152"/>
            <a:ext cx="10789800" cy="73140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e05d493793_2_30"/>
          <p:cNvSpPr txBox="1"/>
          <p:nvPr/>
        </p:nvSpPr>
        <p:spPr>
          <a:xfrm>
            <a:off x="1005840" y="2523744"/>
            <a:ext cx="22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Dify</a:t>
            </a:r>
            <a:r>
              <a:rPr b="1" lang="en-US" sz="17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 (The Brains)</a:t>
            </a:r>
            <a:endParaRPr/>
          </a:p>
        </p:txBody>
      </p:sp>
      <p:sp>
        <p:nvSpPr>
          <p:cNvPr id="133" name="Google Shape;133;g3e05d493793_2_30"/>
          <p:cNvSpPr/>
          <p:nvPr/>
        </p:nvSpPr>
        <p:spPr>
          <a:xfrm>
            <a:off x="3383280" y="2523744"/>
            <a:ext cx="18288" cy="402336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e05d493793_2_30"/>
          <p:cNvSpPr txBox="1"/>
          <p:nvPr/>
        </p:nvSpPr>
        <p:spPr>
          <a:xfrm>
            <a:off x="3566160" y="2523744"/>
            <a:ext cx="7680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Orchestration  ·  agent nodes  ·  human gates</a:t>
            </a:r>
            <a:endParaRPr/>
          </a:p>
        </p:txBody>
      </p:sp>
      <p:sp>
        <p:nvSpPr>
          <p:cNvPr id="135" name="Google Shape;135;g3e05d493793_2_30"/>
          <p:cNvSpPr/>
          <p:nvPr/>
        </p:nvSpPr>
        <p:spPr>
          <a:xfrm>
            <a:off x="5806440" y="3108960"/>
            <a:ext cx="2742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B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05d493793_2_30"/>
          <p:cNvSpPr txBox="1"/>
          <p:nvPr/>
        </p:nvSpPr>
        <p:spPr>
          <a:xfrm>
            <a:off x="6217920" y="310896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HTTP tool calls</a:t>
            </a:r>
            <a:endParaRPr/>
          </a:p>
        </p:txBody>
      </p:sp>
      <p:sp>
        <p:nvSpPr>
          <p:cNvPr id="137" name="Google Shape;137;g3e05d493793_2_30"/>
          <p:cNvSpPr/>
          <p:nvPr/>
        </p:nvSpPr>
        <p:spPr>
          <a:xfrm>
            <a:off x="731520" y="3346704"/>
            <a:ext cx="10789800" cy="73140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05d493793_2_30"/>
          <p:cNvSpPr txBox="1"/>
          <p:nvPr/>
        </p:nvSpPr>
        <p:spPr>
          <a:xfrm>
            <a:off x="1005842" y="3404607"/>
            <a:ext cx="228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Function Tool Calling (The Brawn)</a:t>
            </a:r>
            <a:endParaRPr/>
          </a:p>
        </p:txBody>
      </p:sp>
      <p:sp>
        <p:nvSpPr>
          <p:cNvPr id="139" name="Google Shape;139;g3e05d493793_2_30"/>
          <p:cNvSpPr/>
          <p:nvPr/>
        </p:nvSpPr>
        <p:spPr>
          <a:xfrm>
            <a:off x="3383280" y="3511296"/>
            <a:ext cx="18288" cy="402336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05d493793_2_30"/>
          <p:cNvSpPr txBox="1"/>
          <p:nvPr/>
        </p:nvSpPr>
        <p:spPr>
          <a:xfrm>
            <a:off x="3566160" y="3511296"/>
            <a:ext cx="768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Stateless tool service  ·  60+ endpoints  ·  parser / spec / bundle / rules / validator</a:t>
            </a:r>
            <a:endParaRPr/>
          </a:p>
        </p:txBody>
      </p:sp>
      <p:sp>
        <p:nvSpPr>
          <p:cNvPr id="141" name="Google Shape;141;g3e05d493793_2_30"/>
          <p:cNvSpPr/>
          <p:nvPr/>
        </p:nvSpPr>
        <p:spPr>
          <a:xfrm>
            <a:off x="5806440" y="4096511"/>
            <a:ext cx="2742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B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05d493793_2_30"/>
          <p:cNvSpPr txBox="1"/>
          <p:nvPr/>
        </p:nvSpPr>
        <p:spPr>
          <a:xfrm>
            <a:off x="6217920" y="4096511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bundle ZIP upload</a:t>
            </a:r>
            <a:endParaRPr/>
          </a:p>
        </p:txBody>
      </p:sp>
      <p:sp>
        <p:nvSpPr>
          <p:cNvPr id="143" name="Google Shape;143;g3e05d493793_2_30"/>
          <p:cNvSpPr/>
          <p:nvPr/>
        </p:nvSpPr>
        <p:spPr>
          <a:xfrm>
            <a:off x="731520" y="4334256"/>
            <a:ext cx="10789800" cy="73140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05d493793_2_30"/>
          <p:cNvSpPr txBox="1"/>
          <p:nvPr/>
        </p:nvSpPr>
        <p:spPr>
          <a:xfrm>
            <a:off x="1005840" y="4498848"/>
            <a:ext cx="22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Avni Backend</a:t>
            </a:r>
            <a:endParaRPr/>
          </a:p>
        </p:txBody>
      </p:sp>
      <p:sp>
        <p:nvSpPr>
          <p:cNvPr id="145" name="Google Shape;145;g3e05d493793_2_30"/>
          <p:cNvSpPr/>
          <p:nvPr/>
        </p:nvSpPr>
        <p:spPr>
          <a:xfrm>
            <a:off x="3383280" y="4498848"/>
            <a:ext cx="18288" cy="402336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e05d493793_2_30"/>
          <p:cNvSpPr txBox="1"/>
          <p:nvPr/>
        </p:nvSpPr>
        <p:spPr>
          <a:xfrm>
            <a:off x="3566160" y="4498848"/>
            <a:ext cx="7680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Receives bundle ZIP  ·  imports config  ·  serves field app + webapp</a:t>
            </a:r>
            <a:endParaRPr/>
          </a:p>
        </p:txBody>
      </p:sp>
      <p:sp>
        <p:nvSpPr>
          <p:cNvPr id="147" name="Google Shape;147;g3e05d493793_2_30"/>
          <p:cNvSpPr/>
          <p:nvPr/>
        </p:nvSpPr>
        <p:spPr>
          <a:xfrm>
            <a:off x="5806440" y="5084064"/>
            <a:ext cx="2742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B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05d493793_2_30"/>
          <p:cNvSpPr txBox="1"/>
          <p:nvPr/>
        </p:nvSpPr>
        <p:spPr>
          <a:xfrm>
            <a:off x="6217920" y="5084064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reads / writes</a:t>
            </a:r>
            <a:endParaRPr/>
          </a:p>
        </p:txBody>
      </p:sp>
      <p:sp>
        <p:nvSpPr>
          <p:cNvPr id="149" name="Google Shape;149;g3e05d493793_2_30"/>
          <p:cNvSpPr/>
          <p:nvPr/>
        </p:nvSpPr>
        <p:spPr>
          <a:xfrm>
            <a:off x="731520" y="5321808"/>
            <a:ext cx="10789800" cy="73140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587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05d493793_2_30"/>
          <p:cNvSpPr txBox="1"/>
          <p:nvPr/>
        </p:nvSpPr>
        <p:spPr>
          <a:xfrm>
            <a:off x="1005840" y="5486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77C02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151" name="Google Shape;151;g3e05d493793_2_30"/>
          <p:cNvSpPr/>
          <p:nvPr/>
        </p:nvSpPr>
        <p:spPr>
          <a:xfrm>
            <a:off x="3383280" y="5486400"/>
            <a:ext cx="18288" cy="402336"/>
          </a:xfrm>
          <a:prstGeom prst="rect">
            <a:avLst/>
          </a:prstGeom>
          <a:solidFill>
            <a:srgbClr val="E6E6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05d493793_2_30"/>
          <p:cNvSpPr txBox="1"/>
          <p:nvPr/>
        </p:nvSpPr>
        <p:spPr>
          <a:xfrm>
            <a:off x="3566160" y="5486400"/>
            <a:ext cx="7680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PostgreSQL  ·  config, observations, audit trail</a:t>
            </a:r>
            <a:endParaRPr/>
          </a:p>
        </p:txBody>
      </p:sp>
      <p:sp>
        <p:nvSpPr>
          <p:cNvPr id="153" name="Google Shape;153;g3e05d493793_2_30"/>
          <p:cNvSpPr txBox="1"/>
          <p:nvPr/>
        </p:nvSpPr>
        <p:spPr>
          <a:xfrm>
            <a:off x="3780138" y="6263650"/>
            <a:ext cx="46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Deterministic on the rails, agentic in the gaps.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e60a615971_2_32" title="app_configurator_dem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13700"/>
            <a:ext cx="12191675" cy="594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e60a615971_2_32"/>
          <p:cNvSpPr/>
          <p:nvPr/>
        </p:nvSpPr>
        <p:spPr>
          <a:xfrm>
            <a:off x="283566" y="85005"/>
            <a:ext cx="109800" cy="640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e60a615971_2_32"/>
          <p:cNvSpPr txBox="1"/>
          <p:nvPr/>
        </p:nvSpPr>
        <p:spPr>
          <a:xfrm>
            <a:off x="568061" y="143497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Avni App Configurator Demo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05d493793_2_67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05d493793_2_67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Lesson 1  —  WHERE to put the LLM</a:t>
            </a:r>
            <a:endParaRPr/>
          </a:p>
        </p:txBody>
      </p:sp>
      <p:sp>
        <p:nvSpPr>
          <p:cNvPr id="168" name="Google Shape;168;g3e05d493793_2_67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System-level architecture  ·  deterministic code  +  LLM agents  +  variables</a:t>
            </a:r>
            <a:endParaRPr/>
          </a:p>
        </p:txBody>
      </p:sp>
      <p:sp>
        <p:nvSpPr>
          <p:cNvPr id="169" name="Google Shape;169;g3e05d493793_2_67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4 / 7</a:t>
            </a:r>
            <a:endParaRPr/>
          </a:p>
        </p:txBody>
      </p:sp>
      <p:sp>
        <p:nvSpPr>
          <p:cNvPr id="170" name="Google Shape;170;g3e05d493793_2_67"/>
          <p:cNvSpPr/>
          <p:nvPr/>
        </p:nvSpPr>
        <p:spPr>
          <a:xfrm>
            <a:off x="731520" y="1371600"/>
            <a:ext cx="10789920" cy="640080"/>
          </a:xfrm>
          <a:prstGeom prst="roundRect">
            <a:avLst>
              <a:gd fmla="val 15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05d493793_2_67"/>
          <p:cNvSpPr txBox="1"/>
          <p:nvPr/>
        </p:nvSpPr>
        <p:spPr>
          <a:xfrm>
            <a:off x="914400" y="1463040"/>
            <a:ext cx="1051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Write the contract first.  Writable → deterministic.  Fuzzy → scoped agent.</a:t>
            </a:r>
            <a:endParaRPr/>
          </a:p>
        </p:txBody>
      </p:sp>
      <p:sp>
        <p:nvSpPr>
          <p:cNvPr id="172" name="Google Shape;172;g3e05d493793_2_67"/>
          <p:cNvSpPr/>
          <p:nvPr/>
        </p:nvSpPr>
        <p:spPr>
          <a:xfrm>
            <a:off x="731520" y="2194560"/>
            <a:ext cx="5303520" cy="256032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05d493793_2_67"/>
          <p:cNvSpPr txBox="1"/>
          <p:nvPr/>
        </p:nvSpPr>
        <p:spPr>
          <a:xfrm>
            <a:off x="1005840" y="2377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Go deterministic when</a:t>
            </a:r>
            <a:endParaRPr/>
          </a:p>
        </p:txBody>
      </p:sp>
      <p:sp>
        <p:nvSpPr>
          <p:cNvPr id="174" name="Google Shape;174;g3e05d493793_2_67"/>
          <p:cNvSpPr txBox="1"/>
          <p:nvPr/>
        </p:nvSpPr>
        <p:spPr>
          <a:xfrm>
            <a:off x="1005840" y="2926080"/>
            <a:ext cx="475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5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Schema is writable</a:t>
            </a: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Reproducibility matters</a:t>
            </a: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Validation expressible </a:t>
            </a:r>
            <a:r>
              <a:rPr lang="en-US" sz="15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using logic</a:t>
            </a: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LLM cost not justified</a:t>
            </a: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e.g.  parsing  ·  validation  ·  state management</a:t>
            </a:r>
            <a:endParaRPr/>
          </a:p>
        </p:txBody>
      </p:sp>
      <p:sp>
        <p:nvSpPr>
          <p:cNvPr id="175" name="Google Shape;175;g3e05d493793_2_67"/>
          <p:cNvSpPr/>
          <p:nvPr/>
        </p:nvSpPr>
        <p:spPr>
          <a:xfrm>
            <a:off x="6217920" y="2194560"/>
            <a:ext cx="5303520" cy="256032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05d493793_2_67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Use an LLM agent when</a:t>
            </a:r>
            <a:endParaRPr/>
          </a:p>
        </p:txBody>
      </p:sp>
      <p:sp>
        <p:nvSpPr>
          <p:cNvPr id="177" name="Google Shape;177;g3e05d493793_2_67"/>
          <p:cNvSpPr txBox="1"/>
          <p:nvPr/>
        </p:nvSpPr>
        <p:spPr>
          <a:xfrm>
            <a:off x="6492240" y="2926080"/>
            <a:ext cx="4754880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Input shape varies</a:t>
            </a: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Judgment or reasoning needed</a:t>
            </a: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User dialog / clarification</a:t>
            </a: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Open-ended synthesis or correction</a:t>
            </a: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e.g.  classification  ·  dialog  ·  generation  ·  auditing</a:t>
            </a:r>
            <a:endParaRPr/>
          </a:p>
        </p:txBody>
      </p:sp>
      <p:sp>
        <p:nvSpPr>
          <p:cNvPr id="178" name="Google Shape;178;g3e05d493793_2_67"/>
          <p:cNvSpPr/>
          <p:nvPr/>
        </p:nvSpPr>
        <p:spPr>
          <a:xfrm>
            <a:off x="731520" y="4892040"/>
            <a:ext cx="10789920" cy="731520"/>
          </a:xfrm>
          <a:prstGeom prst="roundRect">
            <a:avLst>
              <a:gd fmla="val 12000" name="adj"/>
            </a:avLst>
          </a:prstGeom>
          <a:solidFill>
            <a:srgbClr val="FDF6EE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05d493793_2_67"/>
          <p:cNvSpPr txBox="1"/>
          <p:nvPr/>
        </p:nvSpPr>
        <p:spPr>
          <a:xfrm>
            <a:off x="914400" y="495604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77C02"/>
                </a:solidFill>
                <a:latin typeface="Calibri"/>
                <a:ea typeface="Calibri"/>
                <a:cs typeface="Calibri"/>
                <a:sym typeface="Calibri"/>
              </a:rPr>
              <a:t>THE GLUE  —  variables thread state between the two sides</a:t>
            </a:r>
            <a:endParaRPr/>
          </a:p>
        </p:txBody>
      </p:sp>
      <p:sp>
        <p:nvSpPr>
          <p:cNvPr id="180" name="Google Shape;180;g3e05d493793_2_67"/>
          <p:cNvSpPr txBox="1"/>
          <p:nvPr/>
        </p:nvSpPr>
        <p:spPr>
          <a:xfrm>
            <a:off x="914400" y="5248656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session ids  ·  phase flags  ·  approvals  ·  retry counters  ·  pause signals</a:t>
            </a:r>
            <a:endParaRPr/>
          </a:p>
        </p:txBody>
      </p:sp>
      <p:sp>
        <p:nvSpPr>
          <p:cNvPr id="181" name="Google Shape;181;g3e05d493793_2_67"/>
          <p:cNvSpPr txBox="1"/>
          <p:nvPr/>
        </p:nvSpPr>
        <p:spPr>
          <a:xfrm>
            <a:off x="731520" y="580644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Can write the contract  →  deterministic.  Can't  →  agent.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e60a615971_2_23" title="Screenshot 2026-04-23 at 2.30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750" y="934700"/>
            <a:ext cx="12213176" cy="59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e60a615971_2_23"/>
          <p:cNvSpPr/>
          <p:nvPr/>
        </p:nvSpPr>
        <p:spPr>
          <a:xfrm>
            <a:off x="283566" y="85005"/>
            <a:ext cx="109800" cy="640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e60a615971_2_23"/>
          <p:cNvSpPr txBox="1"/>
          <p:nvPr/>
        </p:nvSpPr>
        <p:spPr>
          <a:xfrm>
            <a:off x="568061" y="143497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Avni Spec Configuration Template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05d493793_2_87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05d493793_2_87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Lesson 2  —  HOW to shape the agents</a:t>
            </a:r>
            <a:endParaRPr/>
          </a:p>
        </p:txBody>
      </p:sp>
      <p:sp>
        <p:nvSpPr>
          <p:cNvPr id="196" name="Google Shape;196;g3e05d493793_2_87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Agent-level design  ·  sub-agents, divide and conquer</a:t>
            </a:r>
            <a:endParaRPr/>
          </a:p>
        </p:txBody>
      </p:sp>
      <p:sp>
        <p:nvSpPr>
          <p:cNvPr id="197" name="Google Shape;197;g3e05d493793_2_87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5 / 7</a:t>
            </a:r>
            <a:endParaRPr/>
          </a:p>
        </p:txBody>
      </p:sp>
      <p:sp>
        <p:nvSpPr>
          <p:cNvPr id="198" name="Google Shape;198;g3e05d493793_2_87"/>
          <p:cNvSpPr/>
          <p:nvPr/>
        </p:nvSpPr>
        <p:spPr>
          <a:xfrm>
            <a:off x="731520" y="1371600"/>
            <a:ext cx="10789920" cy="594360"/>
          </a:xfrm>
          <a:prstGeom prst="roundRect">
            <a:avLst>
              <a:gd fmla="val 15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05d493793_2_87"/>
          <p:cNvSpPr txBox="1"/>
          <p:nvPr/>
        </p:nvSpPr>
        <p:spPr>
          <a:xfrm>
            <a:off x="914400" y="1444752"/>
            <a:ext cx="1051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One big agent  →  specialist sub-agents. Smaller brain. Clearer job. Surgical edits.</a:t>
            </a:r>
            <a:endParaRPr/>
          </a:p>
        </p:txBody>
      </p:sp>
      <p:sp>
        <p:nvSpPr>
          <p:cNvPr id="200" name="Google Shape;200;g3e05d493793_2_87"/>
          <p:cNvSpPr/>
          <p:nvPr/>
        </p:nvSpPr>
        <p:spPr>
          <a:xfrm>
            <a:off x="731520" y="2103120"/>
            <a:ext cx="2606040" cy="118872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e05d493793_2_87"/>
          <p:cNvSpPr txBox="1"/>
          <p:nvPr/>
        </p:nvSpPr>
        <p:spPr>
          <a:xfrm>
            <a:off x="1008225" y="2286000"/>
            <a:ext cx="20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Small context</a:t>
            </a:r>
            <a:endParaRPr/>
          </a:p>
        </p:txBody>
      </p:sp>
      <p:sp>
        <p:nvSpPr>
          <p:cNvPr id="202" name="Google Shape;202;g3e05d493793_2_87"/>
          <p:cNvSpPr txBox="1"/>
          <p:nvPr/>
        </p:nvSpPr>
        <p:spPr>
          <a:xfrm>
            <a:off x="914400" y="2794043"/>
            <a:ext cx="2254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Each agent sees only its slice.</a:t>
            </a:r>
            <a:endParaRPr/>
          </a:p>
        </p:txBody>
      </p:sp>
      <p:sp>
        <p:nvSpPr>
          <p:cNvPr id="203" name="Google Shape;203;g3e05d493793_2_87"/>
          <p:cNvSpPr/>
          <p:nvPr/>
        </p:nvSpPr>
        <p:spPr>
          <a:xfrm>
            <a:off x="3429000" y="2103120"/>
            <a:ext cx="2606040" cy="118872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e05d493793_2_87"/>
          <p:cNvSpPr txBox="1"/>
          <p:nvPr/>
        </p:nvSpPr>
        <p:spPr>
          <a:xfrm>
            <a:off x="3621050" y="2286000"/>
            <a:ext cx="213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Low tokens</a:t>
            </a:r>
            <a:endParaRPr/>
          </a:p>
        </p:txBody>
      </p:sp>
      <p:sp>
        <p:nvSpPr>
          <p:cNvPr id="205" name="Google Shape;205;g3e05d493793_2_87"/>
          <p:cNvSpPr txBox="1"/>
          <p:nvPr/>
        </p:nvSpPr>
        <p:spPr>
          <a:xfrm>
            <a:off x="3566150" y="2713539"/>
            <a:ext cx="225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Small contexts × many agents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= cheap.  Caching wins.</a:t>
            </a:r>
            <a:endParaRPr/>
          </a:p>
        </p:txBody>
      </p:sp>
      <p:sp>
        <p:nvSpPr>
          <p:cNvPr id="206" name="Google Shape;206;g3e05d493793_2_87"/>
          <p:cNvSpPr/>
          <p:nvPr/>
        </p:nvSpPr>
        <p:spPr>
          <a:xfrm>
            <a:off x="6126480" y="2103120"/>
            <a:ext cx="2606040" cy="118872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e05d493793_2_87"/>
          <p:cNvSpPr txBox="1"/>
          <p:nvPr/>
        </p:nvSpPr>
        <p:spPr>
          <a:xfrm>
            <a:off x="6327284" y="2286000"/>
            <a:ext cx="218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One specialist, one job</a:t>
            </a:r>
            <a:endParaRPr/>
          </a:p>
        </p:txBody>
      </p:sp>
      <p:sp>
        <p:nvSpPr>
          <p:cNvPr id="208" name="Google Shape;208;g3e05d493793_2_87"/>
          <p:cNvSpPr txBox="1"/>
          <p:nvPr/>
        </p:nvSpPr>
        <p:spPr>
          <a:xfrm>
            <a:off x="6302250" y="2724041"/>
            <a:ext cx="225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Clear I/O contract.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Bounded iterations.</a:t>
            </a:r>
            <a:endParaRPr/>
          </a:p>
        </p:txBody>
      </p:sp>
      <p:sp>
        <p:nvSpPr>
          <p:cNvPr id="209" name="Google Shape;209;g3e05d493793_2_87"/>
          <p:cNvSpPr/>
          <p:nvPr/>
        </p:nvSpPr>
        <p:spPr>
          <a:xfrm>
            <a:off x="8823960" y="2103120"/>
            <a:ext cx="2606040" cy="118872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e05d493793_2_87"/>
          <p:cNvSpPr txBox="1"/>
          <p:nvPr/>
        </p:nvSpPr>
        <p:spPr>
          <a:xfrm>
            <a:off x="9014257" y="2286000"/>
            <a:ext cx="218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Surgical edits</a:t>
            </a:r>
            <a:endParaRPr/>
          </a:p>
        </p:txBody>
      </p:sp>
      <p:sp>
        <p:nvSpPr>
          <p:cNvPr id="211" name="Google Shape;211;g3e05d493793_2_87"/>
          <p:cNvSpPr txBox="1"/>
          <p:nvPr/>
        </p:nvSpPr>
        <p:spPr>
          <a:xfrm>
            <a:off x="9038349" y="2656900"/>
            <a:ext cx="225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Edit one file, one rule.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Never regenerate the whole.</a:t>
            </a:r>
            <a:endParaRPr/>
          </a:p>
        </p:txBody>
      </p:sp>
      <p:sp>
        <p:nvSpPr>
          <p:cNvPr id="212" name="Google Shape;212;g3e05d493793_2_87"/>
          <p:cNvSpPr txBox="1"/>
          <p:nvPr/>
        </p:nvSpPr>
        <p:spPr>
          <a:xfrm>
            <a:off x="731520" y="352044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Common sub-agent archetypes</a:t>
            </a:r>
            <a:endParaRPr/>
          </a:p>
        </p:txBody>
      </p:sp>
      <p:sp>
        <p:nvSpPr>
          <p:cNvPr id="213" name="Google Shape;213;g3e05d493793_2_87"/>
          <p:cNvSpPr/>
          <p:nvPr/>
        </p:nvSpPr>
        <p:spPr>
          <a:xfrm>
            <a:off x="731520" y="3840480"/>
            <a:ext cx="2139696" cy="146304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e05d493793_2_87"/>
          <p:cNvSpPr txBox="1"/>
          <p:nvPr/>
        </p:nvSpPr>
        <p:spPr>
          <a:xfrm>
            <a:off x="896112" y="39776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/>
          </a:p>
        </p:txBody>
      </p:sp>
      <p:sp>
        <p:nvSpPr>
          <p:cNvPr id="215" name="Google Shape;215;g3e05d493793_2_87"/>
          <p:cNvSpPr txBox="1"/>
          <p:nvPr/>
        </p:nvSpPr>
        <p:spPr>
          <a:xfrm>
            <a:off x="896112" y="4389120"/>
            <a:ext cx="18105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Route input to</a:t>
            </a:r>
            <a:b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the right path.</a:t>
            </a:r>
            <a:endParaRPr/>
          </a:p>
        </p:txBody>
      </p:sp>
      <p:sp>
        <p:nvSpPr>
          <p:cNvPr id="216" name="Google Shape;216;g3e05d493793_2_87"/>
          <p:cNvSpPr/>
          <p:nvPr/>
        </p:nvSpPr>
        <p:spPr>
          <a:xfrm>
            <a:off x="2926080" y="3840480"/>
            <a:ext cx="2139696" cy="146304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e05d493793_2_87"/>
          <p:cNvSpPr txBox="1"/>
          <p:nvPr/>
        </p:nvSpPr>
        <p:spPr>
          <a:xfrm>
            <a:off x="3090672" y="39776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Planner</a:t>
            </a:r>
            <a:endParaRPr/>
          </a:p>
        </p:txBody>
      </p:sp>
      <p:sp>
        <p:nvSpPr>
          <p:cNvPr id="218" name="Google Shape;218;g3e05d493793_2_87"/>
          <p:cNvSpPr txBox="1"/>
          <p:nvPr/>
        </p:nvSpPr>
        <p:spPr>
          <a:xfrm>
            <a:off x="3090672" y="4389120"/>
            <a:ext cx="18105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Break task into</a:t>
            </a:r>
            <a:b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ordered steps.</a:t>
            </a:r>
            <a:endParaRPr/>
          </a:p>
        </p:txBody>
      </p:sp>
      <p:sp>
        <p:nvSpPr>
          <p:cNvPr id="219" name="Google Shape;219;g3e05d493793_2_87"/>
          <p:cNvSpPr/>
          <p:nvPr/>
        </p:nvSpPr>
        <p:spPr>
          <a:xfrm>
            <a:off x="5120640" y="3840480"/>
            <a:ext cx="2139696" cy="146304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e05d493793_2_87"/>
          <p:cNvSpPr txBox="1"/>
          <p:nvPr/>
        </p:nvSpPr>
        <p:spPr>
          <a:xfrm>
            <a:off x="5285231" y="39776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Synthesizer</a:t>
            </a:r>
            <a:endParaRPr/>
          </a:p>
        </p:txBody>
      </p:sp>
      <p:sp>
        <p:nvSpPr>
          <p:cNvPr id="221" name="Google Shape;221;g3e05d493793_2_87"/>
          <p:cNvSpPr txBox="1"/>
          <p:nvPr/>
        </p:nvSpPr>
        <p:spPr>
          <a:xfrm>
            <a:off x="5285231" y="4389120"/>
            <a:ext cx="18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Produce the</a:t>
            </a:r>
            <a:b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artifact</a:t>
            </a: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as per the spec.</a:t>
            </a:r>
            <a:endParaRPr/>
          </a:p>
        </p:txBody>
      </p:sp>
      <p:sp>
        <p:nvSpPr>
          <p:cNvPr id="222" name="Google Shape;222;g3e05d493793_2_87"/>
          <p:cNvSpPr/>
          <p:nvPr/>
        </p:nvSpPr>
        <p:spPr>
          <a:xfrm>
            <a:off x="7315200" y="3840480"/>
            <a:ext cx="2139696" cy="146304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e05d493793_2_87"/>
          <p:cNvSpPr txBox="1"/>
          <p:nvPr/>
        </p:nvSpPr>
        <p:spPr>
          <a:xfrm>
            <a:off x="7479792" y="39776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Patcher</a:t>
            </a:r>
            <a:endParaRPr/>
          </a:p>
        </p:txBody>
      </p:sp>
      <p:sp>
        <p:nvSpPr>
          <p:cNvPr id="224" name="Google Shape;224;g3e05d493793_2_87"/>
          <p:cNvSpPr txBox="1"/>
          <p:nvPr/>
        </p:nvSpPr>
        <p:spPr>
          <a:xfrm>
            <a:off x="7479792" y="4389120"/>
            <a:ext cx="18105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Edit one part.</a:t>
            </a:r>
            <a:b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Not regenerate.</a:t>
            </a:r>
            <a:endParaRPr/>
          </a:p>
        </p:txBody>
      </p:sp>
      <p:sp>
        <p:nvSpPr>
          <p:cNvPr id="225" name="Google Shape;225;g3e05d493793_2_87"/>
          <p:cNvSpPr/>
          <p:nvPr/>
        </p:nvSpPr>
        <p:spPr>
          <a:xfrm>
            <a:off x="9509760" y="3840480"/>
            <a:ext cx="2011680" cy="146304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05d493793_2_87"/>
          <p:cNvSpPr txBox="1"/>
          <p:nvPr/>
        </p:nvSpPr>
        <p:spPr>
          <a:xfrm>
            <a:off x="9674352" y="3977640"/>
            <a:ext cx="1682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Inspector</a:t>
            </a:r>
            <a:endParaRPr/>
          </a:p>
        </p:txBody>
      </p:sp>
      <p:sp>
        <p:nvSpPr>
          <p:cNvPr id="227" name="Google Shape;227;g3e05d493793_2_87"/>
          <p:cNvSpPr txBox="1"/>
          <p:nvPr/>
        </p:nvSpPr>
        <p:spPr>
          <a:xfrm>
            <a:off x="9674352" y="4389120"/>
            <a:ext cx="16824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Audit output.</a:t>
            </a:r>
            <a:b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Read-only critic.</a:t>
            </a:r>
            <a:endParaRPr/>
          </a:p>
        </p:txBody>
      </p:sp>
      <p:sp>
        <p:nvSpPr>
          <p:cNvPr id="228" name="Google Shape;228;g3e05d493793_2_87"/>
          <p:cNvSpPr txBox="1"/>
          <p:nvPr/>
        </p:nvSpPr>
        <p:spPr>
          <a:xfrm>
            <a:off x="731520" y="566928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Small brain.  Clear job.  Surgical edits.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e60a615971_2_15" title="Screenshot 2026-04-23 at 2.19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3200"/>
            <a:ext cx="12191677" cy="5954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e60a615971_2_15"/>
          <p:cNvSpPr/>
          <p:nvPr/>
        </p:nvSpPr>
        <p:spPr>
          <a:xfrm>
            <a:off x="283566" y="85005"/>
            <a:ext cx="109800" cy="640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60a615971_2_15"/>
          <p:cNvSpPr txBox="1"/>
          <p:nvPr/>
        </p:nvSpPr>
        <p:spPr>
          <a:xfrm>
            <a:off x="568061" y="143497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Avni App Configurator Agentic Workflow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05d493793_2_126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05d493793_2_126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Lesson 3  —  </a:t>
            </a: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HOW to design the tools</a:t>
            </a:r>
            <a:endParaRPr/>
          </a:p>
        </p:txBody>
      </p:sp>
      <p:sp>
        <p:nvSpPr>
          <p:cNvPr id="243" name="Google Shape;243;g3e05d493793_2_126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Tool-level design  ·  keeps the LLM cheap, fast, capable of depth</a:t>
            </a:r>
            <a:endParaRPr/>
          </a:p>
        </p:txBody>
      </p:sp>
      <p:sp>
        <p:nvSpPr>
          <p:cNvPr id="244" name="Google Shape;244;g3e05d493793_2_12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6 / 7</a:t>
            </a:r>
            <a:endParaRPr/>
          </a:p>
        </p:txBody>
      </p:sp>
      <p:sp>
        <p:nvSpPr>
          <p:cNvPr id="245" name="Google Shape;245;g3e05d493793_2_126"/>
          <p:cNvSpPr/>
          <p:nvPr/>
        </p:nvSpPr>
        <p:spPr>
          <a:xfrm>
            <a:off x="731520" y="1371600"/>
            <a:ext cx="10789920" cy="594360"/>
          </a:xfrm>
          <a:prstGeom prst="roundRect">
            <a:avLst>
              <a:gd fmla="val 15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05d493793_2_126"/>
          <p:cNvSpPr txBox="1"/>
          <p:nvPr/>
        </p:nvSpPr>
        <p:spPr>
          <a:xfrm>
            <a:off x="914400" y="144475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Design every tool assuming an LLM will call it.  Return only what's needed.</a:t>
            </a:r>
            <a:endParaRPr/>
          </a:p>
        </p:txBody>
      </p:sp>
      <p:sp>
        <p:nvSpPr>
          <p:cNvPr id="247" name="Google Shape;247;g3e05d493793_2_126"/>
          <p:cNvSpPr/>
          <p:nvPr/>
        </p:nvSpPr>
        <p:spPr>
          <a:xfrm>
            <a:off x="731520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05d493793_2_126"/>
          <p:cNvSpPr txBox="1"/>
          <p:nvPr/>
        </p:nvSpPr>
        <p:spPr>
          <a:xfrm>
            <a:off x="896112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Sectional retrieval</a:t>
            </a:r>
            <a:endParaRPr/>
          </a:p>
        </p:txBody>
      </p:sp>
      <p:sp>
        <p:nvSpPr>
          <p:cNvPr id="249" name="Google Shape;249;g3e05d493793_2_126"/>
          <p:cNvSpPr txBox="1"/>
          <p:nvPr/>
        </p:nvSpPr>
        <p:spPr>
          <a:xfrm>
            <a:off x="896112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Return only what this</a:t>
            </a:r>
            <a:b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turn needs.  Not the whole base.</a:t>
            </a:r>
            <a:endParaRPr/>
          </a:p>
        </p:txBody>
      </p:sp>
      <p:sp>
        <p:nvSpPr>
          <p:cNvPr id="250" name="Google Shape;250;g3e05d493793_2_126"/>
          <p:cNvSpPr/>
          <p:nvPr/>
        </p:nvSpPr>
        <p:spPr>
          <a:xfrm>
            <a:off x="4343400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05d493793_2_126"/>
          <p:cNvSpPr txBox="1"/>
          <p:nvPr/>
        </p:nvSpPr>
        <p:spPr>
          <a:xfrm>
            <a:off x="4507992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Response truncation</a:t>
            </a:r>
            <a:endParaRPr/>
          </a:p>
        </p:txBody>
      </p:sp>
      <p:sp>
        <p:nvSpPr>
          <p:cNvPr id="252" name="Google Shape;252;g3e05d493793_2_126"/>
          <p:cNvSpPr txBox="1"/>
          <p:nvPr/>
        </p:nvSpPr>
        <p:spPr>
          <a:xfrm>
            <a:off x="4507992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Cap outputs.</a:t>
            </a:r>
            <a:b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Send 'top 20 + count'.</a:t>
            </a:r>
            <a:endParaRPr/>
          </a:p>
        </p:txBody>
      </p:sp>
      <p:sp>
        <p:nvSpPr>
          <p:cNvPr id="253" name="Google Shape;253;g3e05d493793_2_126"/>
          <p:cNvSpPr/>
          <p:nvPr/>
        </p:nvSpPr>
        <p:spPr>
          <a:xfrm>
            <a:off x="7955279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05d493793_2_126"/>
          <p:cNvSpPr txBox="1"/>
          <p:nvPr/>
        </p:nvSpPr>
        <p:spPr>
          <a:xfrm>
            <a:off x="8119871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Surgical edits</a:t>
            </a:r>
            <a:endParaRPr/>
          </a:p>
        </p:txBody>
      </p:sp>
      <p:sp>
        <p:nvSpPr>
          <p:cNvPr id="255" name="Google Shape;255;g3e05d493793_2_126"/>
          <p:cNvSpPr txBox="1"/>
          <p:nvPr/>
        </p:nvSpPr>
        <p:spPr>
          <a:xfrm>
            <a:off x="8119871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Target + patch.</a:t>
            </a:r>
            <a:b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Not full rewrite.</a:t>
            </a:r>
            <a:endParaRPr/>
          </a:p>
        </p:txBody>
      </p:sp>
      <p:sp>
        <p:nvSpPr>
          <p:cNvPr id="256" name="Google Shape;256;g3e05d493793_2_126"/>
          <p:cNvSpPr/>
          <p:nvPr/>
        </p:nvSpPr>
        <p:spPr>
          <a:xfrm>
            <a:off x="731520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05d493793_2_126"/>
          <p:cNvSpPr txBox="1"/>
          <p:nvPr/>
        </p:nvSpPr>
        <p:spPr>
          <a:xfrm>
            <a:off x="896112" y="3749040"/>
            <a:ext cx="319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/>
          </a:p>
        </p:txBody>
      </p:sp>
      <p:sp>
        <p:nvSpPr>
          <p:cNvPr id="258" name="Google Shape;258;g3e05d493793_2_126"/>
          <p:cNvSpPr txBox="1"/>
          <p:nvPr/>
        </p:nvSpPr>
        <p:spPr>
          <a:xfrm>
            <a:off x="895987" y="4022170"/>
            <a:ext cx="319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Individual tools do not maintain state within themselves.</a:t>
            </a:r>
            <a:endParaRPr sz="125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But you could have tools to save, modify or retrieve overall state(data).</a:t>
            </a:r>
            <a:endParaRPr/>
          </a:p>
        </p:txBody>
      </p:sp>
      <p:sp>
        <p:nvSpPr>
          <p:cNvPr id="259" name="Google Shape;259;g3e05d493793_2_126"/>
          <p:cNvSpPr/>
          <p:nvPr/>
        </p:nvSpPr>
        <p:spPr>
          <a:xfrm>
            <a:off x="4343400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05d493793_2_126"/>
          <p:cNvSpPr txBox="1"/>
          <p:nvPr/>
        </p:nvSpPr>
        <p:spPr>
          <a:xfrm>
            <a:off x="4507992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Handles, not payloads</a:t>
            </a:r>
            <a:endParaRPr/>
          </a:p>
        </p:txBody>
      </p:sp>
      <p:sp>
        <p:nvSpPr>
          <p:cNvPr id="261" name="Google Shape;261;g3e05d493793_2_126"/>
          <p:cNvSpPr txBox="1"/>
          <p:nvPr/>
        </p:nvSpPr>
        <p:spPr>
          <a:xfrm>
            <a:off x="4507992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Heavy state in a store.</a:t>
            </a:r>
            <a:b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LLM sees a handle + summary.</a:t>
            </a:r>
            <a:endParaRPr/>
          </a:p>
        </p:txBody>
      </p:sp>
      <p:sp>
        <p:nvSpPr>
          <p:cNvPr id="262" name="Google Shape;262;g3e05d493793_2_126"/>
          <p:cNvSpPr/>
          <p:nvPr/>
        </p:nvSpPr>
        <p:spPr>
          <a:xfrm>
            <a:off x="7955279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05d493793_2_126"/>
          <p:cNvSpPr txBox="1"/>
          <p:nvPr/>
        </p:nvSpPr>
        <p:spPr>
          <a:xfrm>
            <a:off x="8119871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Defensive guards</a:t>
            </a:r>
            <a:endParaRPr/>
          </a:p>
        </p:txBody>
      </p:sp>
      <p:sp>
        <p:nvSpPr>
          <p:cNvPr id="264" name="Google Shape;264;g3e05d493793_2_126"/>
          <p:cNvSpPr txBox="1"/>
          <p:nvPr/>
        </p:nvSpPr>
        <p:spPr>
          <a:xfrm>
            <a:off x="8119871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Validate in, validate out.</a:t>
            </a:r>
            <a:b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Bound depth.  Fail clean.</a:t>
            </a:r>
            <a:endParaRPr/>
          </a:p>
        </p:txBody>
      </p:sp>
      <p:sp>
        <p:nvSpPr>
          <p:cNvPr id="265" name="Google Shape;265;g3e05d493793_2_126"/>
          <p:cNvSpPr/>
          <p:nvPr/>
        </p:nvSpPr>
        <p:spPr>
          <a:xfrm>
            <a:off x="731520" y="5074920"/>
            <a:ext cx="10789920" cy="685800"/>
          </a:xfrm>
          <a:prstGeom prst="roundRect">
            <a:avLst>
              <a:gd fmla="val 15000" name="adj"/>
            </a:avLst>
          </a:prstGeom>
          <a:solidFill>
            <a:srgbClr val="FDF6EE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05d493793_2_126"/>
          <p:cNvSpPr txBox="1"/>
          <p:nvPr/>
        </p:nvSpPr>
        <p:spPr>
          <a:xfrm>
            <a:off x="914400" y="51389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Before  —  LLM exhausted on initial entities.  Couldn't go deeper.</a:t>
            </a:r>
            <a:endParaRPr/>
          </a:p>
        </p:txBody>
      </p:sp>
      <p:sp>
        <p:nvSpPr>
          <p:cNvPr id="267" name="Google Shape;267;g3e05d493793_2_126"/>
          <p:cNvSpPr txBox="1"/>
          <p:nvPr/>
        </p:nvSpPr>
        <p:spPr>
          <a:xfrm>
            <a:off x="914400" y="5431536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With these  —  10× fewer tokens per turn.  Depth becomes routine.</a:t>
            </a:r>
            <a:endParaRPr/>
          </a:p>
        </p:txBody>
      </p:sp>
      <p:sp>
        <p:nvSpPr>
          <p:cNvPr id="268" name="Google Shape;268;g3e05d493793_2_126"/>
          <p:cNvSpPr txBox="1"/>
          <p:nvPr/>
        </p:nvSpPr>
        <p:spPr>
          <a:xfrm>
            <a:off x="731520" y="598932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Design the tool for the </a:t>
            </a:r>
            <a:r>
              <a:rPr b="1" i="1" lang="en-US" sz="1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 that will call it.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g3e60a615971_2_11" title="openapi_snippet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03200"/>
            <a:ext cx="12191675" cy="595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e60a615971_2_11"/>
          <p:cNvSpPr/>
          <p:nvPr/>
        </p:nvSpPr>
        <p:spPr>
          <a:xfrm>
            <a:off x="283566" y="85005"/>
            <a:ext cx="109800" cy="640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e60a615971_2_11"/>
          <p:cNvSpPr txBox="1"/>
          <p:nvPr/>
        </p:nvSpPr>
        <p:spPr>
          <a:xfrm>
            <a:off x="568061" y="143497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Avni AI OpenAPI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05d493793_2_158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05d493793_2_158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What's Next,  and What's in the Way</a:t>
            </a:r>
            <a:endParaRPr/>
          </a:p>
        </p:txBody>
      </p:sp>
      <p:sp>
        <p:nvSpPr>
          <p:cNvPr id="283" name="Google Shape;283;g3e05d493793_2_158"/>
          <p:cNvSpPr txBox="1"/>
          <p:nvPr/>
        </p:nvSpPr>
        <p:spPr>
          <a:xfrm>
            <a:off x="731520" y="841248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Roadmap  ·  Dify workflow shortcomings</a:t>
            </a:r>
            <a:endParaRPr/>
          </a:p>
        </p:txBody>
      </p:sp>
      <p:sp>
        <p:nvSpPr>
          <p:cNvPr id="284" name="Google Shape;284;g3e05d493793_2_15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7 / 7</a:t>
            </a:r>
            <a:endParaRPr/>
          </a:p>
        </p:txBody>
      </p:sp>
      <p:sp>
        <p:nvSpPr>
          <p:cNvPr id="285" name="Google Shape;285;g3e05d493793_2_158"/>
          <p:cNvSpPr/>
          <p:nvPr/>
        </p:nvSpPr>
        <p:spPr>
          <a:xfrm>
            <a:off x="731520" y="1956675"/>
            <a:ext cx="5303400" cy="411480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05d493793_2_158"/>
          <p:cNvSpPr txBox="1"/>
          <p:nvPr/>
        </p:nvSpPr>
        <p:spPr>
          <a:xfrm>
            <a:off x="1005840" y="2263155"/>
            <a:ext cx="47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Shipping next</a:t>
            </a:r>
            <a:endParaRPr b="1" sz="1600">
              <a:solidFill>
                <a:srgbClr val="2E7D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05d493793_2_158"/>
          <p:cNvSpPr txBox="1"/>
          <p:nvPr/>
        </p:nvSpPr>
        <p:spPr>
          <a:xfrm>
            <a:off x="1005840" y="2688195"/>
            <a:ext cx="4755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Complete the bundle  —  </a:t>
            </a: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enhance support for complex configuration 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Handle multi-turn conversation for configuration refinement 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Production org safety  —  trial-only today</a:t>
            </a:r>
            <a:b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Adopt cohort guardrails  —  regex + small-LLM guards</a:t>
            </a:r>
            <a:b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Benchmark setup time  vs.  manual webapp config</a:t>
            </a:r>
            <a:endParaRPr b="0" i="0" sz="1400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Unstructured scoping docs (PDF / image) → spec</a:t>
            </a:r>
            <a:b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e05d493793_2_158"/>
          <p:cNvSpPr/>
          <p:nvPr/>
        </p:nvSpPr>
        <p:spPr>
          <a:xfrm>
            <a:off x="6217920" y="1956675"/>
            <a:ext cx="5303400" cy="411480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e05d493793_2_158"/>
          <p:cNvSpPr txBox="1"/>
          <p:nvPr/>
        </p:nvSpPr>
        <p:spPr>
          <a:xfrm>
            <a:off x="6492177" y="2203905"/>
            <a:ext cx="47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77C02"/>
                </a:solidFill>
                <a:latin typeface="Calibri"/>
                <a:ea typeface="Calibri"/>
                <a:cs typeface="Calibri"/>
                <a:sym typeface="Calibri"/>
              </a:rPr>
              <a:t>Dify workflow  —  shortcomings</a:t>
            </a:r>
            <a:endParaRPr/>
          </a:p>
        </p:txBody>
      </p:sp>
      <p:sp>
        <p:nvSpPr>
          <p:cNvPr id="290" name="Google Shape;290;g3e05d493793_2_158"/>
          <p:cNvSpPr txBox="1"/>
          <p:nvPr/>
        </p:nvSpPr>
        <p:spPr>
          <a:xfrm>
            <a:off x="6492240" y="2688195"/>
            <a:ext cx="4755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Doc extractor misses content  —  parsing moved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   to our own parser on avni-ai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Agent nodes can't call auth'd tools using per</a:t>
            </a:r>
            <a:r>
              <a:rPr lang="en-US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ishable tokens</a:t>
            </a: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—  token lives in conversation-scoped in-memory store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No sub-workflow imports  —  HTTP-self (200–500 ms)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   or copy-paste across flows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Prompt length UI limits  —  inject long prompts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   as </a:t>
            </a: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YAML / visual-flow config  —  adoption curve for</a:t>
            </a:r>
            <a:b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   developers used to code files</a:t>
            </a:r>
            <a:endParaRPr/>
          </a:p>
        </p:txBody>
      </p:sp>
      <p:sp>
        <p:nvSpPr>
          <p:cNvPr id="291" name="Google Shape;291;g3e05d493793_2_158"/>
          <p:cNvSpPr txBox="1"/>
          <p:nvPr/>
        </p:nvSpPr>
        <p:spPr>
          <a:xfrm>
            <a:off x="731520" y="6300075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The Devil is in the details.!</a:t>
            </a:r>
            <a:endParaRPr/>
          </a:p>
        </p:txBody>
      </p:sp>
      <p:sp>
        <p:nvSpPr>
          <p:cNvPr id="292" name="Google Shape;292;g3e05d493793_2_158"/>
          <p:cNvSpPr txBox="1"/>
          <p:nvPr/>
        </p:nvSpPr>
        <p:spPr>
          <a:xfrm>
            <a:off x="746528" y="1237479"/>
            <a:ext cx="10698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77C02"/>
                </a:solidFill>
                <a:latin typeface="Calibri"/>
                <a:ea typeface="Calibri"/>
                <a:cs typeface="Calibri"/>
                <a:sym typeface="Calibri"/>
              </a:rPr>
              <a:t>Orchestrating open-ended long-horizon tasks using LangChain/LangGraph/Dify was a lost cause for us. Moving to Claude-managed agents instead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b="1" sz="1600">
              <a:solidFill>
                <a:srgbClr val="C77C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" name="Google Shape;85;g3e05d493793_2_0"/>
          <p:cNvSpPr/>
          <p:nvPr/>
        </p:nvSpPr>
        <p:spPr>
          <a:xfrm>
            <a:off x="457200" y="2743200"/>
            <a:ext cx="164592" cy="16459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e05d493793_2_0"/>
          <p:cNvSpPr txBox="1"/>
          <p:nvPr/>
        </p:nvSpPr>
        <p:spPr>
          <a:xfrm>
            <a:off x="822960" y="2286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THE NEXT CHAPTER  ·  FROM DIFY TO CLAUDE-MANAGED AGENTS</a:t>
            </a:r>
          </a:p>
        </p:txBody>
      </p:sp>
      <p:sp>
        <p:nvSpPr>
          <p:cNvPr id="87" name="Google Shape;87;g3e05d493793_2_0"/>
          <p:cNvSpPr txBox="1"/>
          <p:nvPr/>
        </p:nvSpPr>
        <p:spPr>
          <a:xfrm>
            <a:off x="822960" y="27432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avni-skills-sdk</a:t>
            </a:r>
          </a:p>
        </p:txBody>
      </p:sp>
      <p:sp>
        <p:nvSpPr>
          <p:cNvPr id="88" name="Google Shape;88;g3e05d493793_2_0"/>
          <p:cNvSpPr txBox="1"/>
          <p:nvPr/>
        </p:nvSpPr>
        <p:spPr>
          <a:xfrm>
            <a:off x="822960" y="3474720"/>
            <a:ext cx="1097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Claude-managed agents, in production</a:t>
            </a:r>
          </a:p>
        </p:txBody>
      </p:sp>
      <p:sp>
        <p:nvSpPr>
          <p:cNvPr id="89" name="Google Shape;89;g3e05d493793_2_0"/>
          <p:cNvSpPr txBox="1"/>
          <p:nvPr/>
        </p:nvSpPr>
        <p:spPr>
          <a:xfrm>
            <a:off x="822960" y="45720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“Claude Code, but for an AVNI bundle author”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6" name="Google Shape;166;g3e05d493793_2_67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05d493793_2_67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The New Architecture  —  two stages, one workflow</a:t>
            </a:r>
          </a:p>
        </p:txBody>
      </p:sp>
      <p:sp>
        <p:nvSpPr>
          <p:cNvPr id="168" name="Google Shape;168;g3e05d493793_2_67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System-level  ·  deterministic generator  +  Claude Agent SDK refinement loop</a:t>
            </a:r>
          </a:p>
        </p:txBody>
      </p:sp>
      <p:sp>
        <p:nvSpPr>
          <p:cNvPr id="169" name="Google Shape;169;g3e05d493793_2_67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avni-skills-sdk  ·  overview</a:t>
            </a:r>
          </a:p>
        </p:txBody>
      </p:sp>
      <p:sp>
        <p:nvSpPr>
          <p:cNvPr id="170" name="Google Shape;170;g3e05d493793_2_67"/>
          <p:cNvSpPr/>
          <p:nvPr/>
        </p:nvSpPr>
        <p:spPr>
          <a:xfrm>
            <a:off x="731520" y="1371600"/>
            <a:ext cx="10789920" cy="640080"/>
          </a:xfrm>
          <a:prstGeom prst="roundRect">
            <a:avLst>
              <a:gd fmla="val 15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05d493793_2_67"/>
          <p:cNvSpPr txBox="1"/>
          <p:nvPr/>
        </p:nvSpPr>
        <p:spPr>
          <a:xfrm>
            <a:off x="914400" y="1463040"/>
            <a:ext cx="1051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Forms.xlsx + Modelling.xlsx in. Ready-for-AVNI bundle out. The LLM only refines.</a:t>
            </a:r>
          </a:p>
        </p:txBody>
      </p:sp>
      <p:sp>
        <p:nvSpPr>
          <p:cNvPr id="172" name="Google Shape;172;g3e05d493793_2_67"/>
          <p:cNvSpPr/>
          <p:nvPr/>
        </p:nvSpPr>
        <p:spPr>
          <a:xfrm>
            <a:off x="731520" y="2194560"/>
            <a:ext cx="5303520" cy="256032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05d493793_2_67"/>
          <p:cNvSpPr txBox="1"/>
          <p:nvPr/>
        </p:nvSpPr>
        <p:spPr>
          <a:xfrm>
            <a:off x="1005840" y="2377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Stage 1  ·  Deterministic</a:t>
            </a:r>
          </a:p>
        </p:txBody>
      </p:sp>
      <p:sp>
        <p:nvSpPr>
          <p:cNvPr id="174" name="Google Shape;174;g3e05d493793_2_67"/>
          <p:cNvSpPr txBox="1"/>
          <p:nvPr/>
        </p:nvSpPr>
        <p:spPr>
          <a:xfrm>
            <a:off x="1005840" y="2926080"/>
            <a:ext cx="475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No LLM  ·  &lt; 1 s  ·  free</a:t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2 Excel files → 30+ JSON + zip</a:t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Reproducible, auditable bundles</a:t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Runs the validator, not a model</a:t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e.g.  parse  ·  generate  ·  validate</a:t>
            </a:r>
          </a:p>
        </p:txBody>
      </p:sp>
      <p:sp>
        <p:nvSpPr>
          <p:cNvPr id="175" name="Google Shape;175;g3e05d493793_2_67"/>
          <p:cNvSpPr/>
          <p:nvPr/>
        </p:nvSpPr>
        <p:spPr>
          <a:xfrm>
            <a:off x="6217920" y="2194560"/>
            <a:ext cx="5303520" cy="2560320"/>
          </a:xfrm>
          <a:prstGeom prst="roundRect">
            <a:avLst>
              <a:gd fmla="val 5000" name="adj"/>
            </a:avLst>
          </a:prstGeom>
          <a:solidFill>
            <a:srgbClr val="F7F9F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05d493793_2_67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Stage 2  ·  Chat-driven refinement</a:t>
            </a:r>
          </a:p>
        </p:txBody>
      </p:sp>
      <p:sp>
        <p:nvSpPr>
          <p:cNvPr id="177" name="Google Shape;177;g3e05d493793_2_67"/>
          <p:cNvSpPr txBox="1"/>
          <p:nvPr/>
        </p:nvSpPr>
        <p:spPr>
          <a:xfrm>
            <a:off x="6492240" y="2926080"/>
            <a:ext cx="4754880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Claude Agent SDK loop</a:t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Each turn becomes a git commit</a:t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Validator runs after every turn</a:t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•  Correct, extend, ship — in chat</a:t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/>
            <a:r>
              <a:rPr b="0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e.g.  fix C5  ·  add subject  ·  rename</a:t>
            </a:r>
          </a:p>
        </p:txBody>
      </p:sp>
      <p:sp>
        <p:nvSpPr>
          <p:cNvPr id="178" name="Google Shape;178;g3e05d493793_2_67"/>
          <p:cNvSpPr/>
          <p:nvPr/>
        </p:nvSpPr>
        <p:spPr>
          <a:xfrm>
            <a:off x="731520" y="4892040"/>
            <a:ext cx="10789920" cy="731520"/>
          </a:xfrm>
          <a:prstGeom prst="roundRect">
            <a:avLst>
              <a:gd fmla="val 12000" name="adj"/>
            </a:avLst>
          </a:prstGeom>
          <a:solidFill>
            <a:srgbClr val="FDF6EE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05d493793_2_67"/>
          <p:cNvSpPr txBox="1"/>
          <p:nvPr/>
        </p:nvSpPr>
        <p:spPr>
          <a:xfrm>
            <a:off x="914400" y="495604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77C02"/>
                </a:solidFill>
                <a:latin typeface="Calibri"/>
                <a:ea typeface="Calibri"/>
                <a:cs typeface="Calibri"/>
                <a:sym typeface="Calibri"/>
              </a:rPr>
              <a:t>THE BRIDGE  —  slide 12’s “moving to Claude-managed agents,” realized</a:t>
            </a:r>
          </a:p>
        </p:txBody>
      </p:sp>
      <p:sp>
        <p:nvSpPr>
          <p:cNvPr id="180" name="Google Shape;180;g3e05d493793_2_67"/>
          <p:cNvSpPr txBox="1"/>
          <p:nvPr/>
        </p:nvSpPr>
        <p:spPr>
          <a:xfrm>
            <a:off x="914400" y="5248656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deterministic rails stay free &amp; fast  ·  agentic judgement now audited, capped, reversible</a:t>
            </a:r>
          </a:p>
        </p:txBody>
      </p:sp>
      <p:sp>
        <p:nvSpPr>
          <p:cNvPr id="181" name="Google Shape;181;g3e05d493793_2_67"/>
          <p:cNvSpPr txBox="1"/>
          <p:nvPr/>
        </p:nvSpPr>
        <p:spPr>
          <a:xfrm>
            <a:off x="731520" y="580644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Same thesis as before  —  now without Dify.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4" name="Google Shape;234;g3e60a615971_2_15"/>
          <p:cNvSpPr/>
          <p:nvPr/>
        </p:nvSpPr>
        <p:spPr>
          <a:xfrm>
            <a:off x="283566" y="85005"/>
            <a:ext cx="109800" cy="640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60a615971_2_15"/>
          <p:cNvSpPr txBox="1"/>
          <p:nvPr/>
        </p:nvSpPr>
        <p:spPr>
          <a:xfrm>
            <a:off x="568061" y="143497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Multi-step build  —  tools run before every edit</a:t>
            </a:r>
          </a:p>
        </p:txBody>
      </p:sp>
      <p:pic>
        <p:nvPicPr>
          <p:cNvPr id="236" name="Picture 235" descr="01-multi-step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556" y="905256"/>
            <a:ext cx="9304563" cy="59527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1" name="Google Shape;241;g3e05d493793_2_126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05d493793_2_126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Building block 1  —  spec in, bundle out, round-trip</a:t>
            </a:r>
          </a:p>
        </p:txBody>
      </p:sp>
      <p:sp>
        <p:nvSpPr>
          <p:cNvPr id="243" name="Google Shape;243;g3e05d493793_2_126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Stage 1  ·  deterministic  ·  avni-skills</a:t>
            </a:r>
          </a:p>
        </p:txBody>
      </p:sp>
      <p:sp>
        <p:nvSpPr>
          <p:cNvPr id="244" name="Google Shape;244;g3e05d493793_2_12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avni-skills  ·  1 / 5</a:t>
            </a:r>
          </a:p>
        </p:txBody>
      </p:sp>
      <p:sp>
        <p:nvSpPr>
          <p:cNvPr id="245" name="Google Shape;245;g3e05d493793_2_126"/>
          <p:cNvSpPr/>
          <p:nvPr/>
        </p:nvSpPr>
        <p:spPr>
          <a:xfrm>
            <a:off x="731520" y="1371600"/>
            <a:ext cx="10789920" cy="594360"/>
          </a:xfrm>
          <a:prstGeom prst="roundRect">
            <a:avLst>
              <a:gd fmla="val 15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05d493793_2_126"/>
          <p:cNvSpPr txBox="1"/>
          <p:nvPr/>
        </p:nvSpPr>
        <p:spPr>
          <a:xfrm>
            <a:off x="914400" y="144475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One human-readable YAML spec compiles to a full Avni bundle — and decompiles back. Edits patch the live bundle; they never regenerate it.</a:t>
            </a:r>
          </a:p>
        </p:txBody>
      </p:sp>
      <p:sp>
        <p:nvSpPr>
          <p:cNvPr id="247" name="Google Shape;247;g3e05d493793_2_126"/>
          <p:cNvSpPr/>
          <p:nvPr/>
        </p:nvSpPr>
        <p:spPr>
          <a:xfrm>
            <a:off x="731520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05d493793_2_126"/>
          <p:cNvSpPr txBox="1"/>
          <p:nvPr/>
        </p:nvSpPr>
        <p:spPr>
          <a:xfrm>
            <a:off x="896112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Spec → bundle</a:t>
            </a:r>
          </a:p>
        </p:txBody>
      </p:sp>
      <p:sp>
        <p:nvSpPr>
          <p:cNvPr id="249" name="Google Shape;249;g3e05d493793_2_126"/>
          <p:cNvSpPr txBox="1"/>
          <p:nvPr/>
        </p:nvSpPr>
        <p:spPr>
          <a:xfrm>
            <a:off x="896112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YAML parses to entities;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generator emits 30+ JSON files.</a:t>
            </a:r>
          </a:p>
        </p:txBody>
      </p:sp>
      <p:sp>
        <p:nvSpPr>
          <p:cNvPr id="250" name="Google Shape;250;g3e05d493793_2_126"/>
          <p:cNvSpPr/>
          <p:nvPr/>
        </p:nvSpPr>
        <p:spPr>
          <a:xfrm>
            <a:off x="4343400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05d493793_2_126"/>
          <p:cNvSpPr txBox="1"/>
          <p:nvPr/>
        </p:nvSpPr>
        <p:spPr>
          <a:xfrm>
            <a:off x="4507992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Bundle → spec</a:t>
            </a:r>
          </a:p>
        </p:txBody>
      </p:sp>
      <p:sp>
        <p:nvSpPr>
          <p:cNvPr id="252" name="Google Shape;252;g3e05d493793_2_126"/>
          <p:cNvSpPr txBox="1"/>
          <p:nvPr/>
        </p:nvSpPr>
        <p:spPr>
          <a:xfrm>
            <a:off x="4507992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Emitter reverses it; parse→emit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is byte-equivalent.</a:t>
            </a:r>
          </a:p>
        </p:txBody>
      </p:sp>
      <p:sp>
        <p:nvSpPr>
          <p:cNvPr id="253" name="Google Shape;253;g3e05d493793_2_126"/>
          <p:cNvSpPr/>
          <p:nvPr/>
        </p:nvSpPr>
        <p:spPr>
          <a:xfrm>
            <a:off x="7955279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05d493793_2_126"/>
          <p:cNvSpPr txBox="1"/>
          <p:nvPr/>
        </p:nvSpPr>
        <p:spPr>
          <a:xfrm>
            <a:off x="8119871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Patch, don’t regen</a:t>
            </a:r>
          </a:p>
        </p:txBody>
      </p:sp>
      <p:sp>
        <p:nvSpPr>
          <p:cNvPr id="255" name="Google Shape;255;g3e05d493793_2_126"/>
          <p:cNvSpPr txBox="1"/>
          <p:nvPr/>
        </p:nvSpPr>
        <p:spPr>
          <a:xfrm>
            <a:off x="8119871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New spec merges onto the live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bundle — UUIDs + UI edits kept.</a:t>
            </a:r>
          </a:p>
        </p:txBody>
      </p:sp>
      <p:sp>
        <p:nvSpPr>
          <p:cNvPr id="256" name="Google Shape;256;g3e05d493793_2_126"/>
          <p:cNvSpPr/>
          <p:nvPr/>
        </p:nvSpPr>
        <p:spPr>
          <a:xfrm>
            <a:off x="731520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05d493793_2_126"/>
          <p:cNvSpPr txBox="1"/>
          <p:nvPr/>
        </p:nvSpPr>
        <p:spPr>
          <a:xfrm>
            <a:off x="896112" y="3749040"/>
            <a:ext cx="319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Deterministic IDs</a:t>
            </a:r>
          </a:p>
        </p:txBody>
      </p:sp>
      <p:sp>
        <p:nvSpPr>
          <p:cNvPr id="258" name="Google Shape;258;g3e05d493793_2_126"/>
          <p:cNvSpPr txBox="1"/>
          <p:nvPr/>
        </p:nvSpPr>
        <p:spPr>
          <a:xfrm>
            <a:off x="895987" y="4022170"/>
            <a:ext cx="319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Hash-seeded UUIDs. Same spec</a:t>
            </a:r>
            <a:br/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→ same bundle, every run.</a:t>
            </a:r>
          </a:p>
        </p:txBody>
      </p:sp>
      <p:sp>
        <p:nvSpPr>
          <p:cNvPr id="259" name="Google Shape;259;g3e05d493793_2_126"/>
          <p:cNvSpPr/>
          <p:nvPr/>
        </p:nvSpPr>
        <p:spPr>
          <a:xfrm>
            <a:off x="4343400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05d493793_2_126"/>
          <p:cNvSpPr txBox="1"/>
          <p:nvPr/>
        </p:nvSpPr>
        <p:spPr>
          <a:xfrm>
            <a:off x="4507992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Canonical ZIP order</a:t>
            </a:r>
          </a:p>
        </p:txBody>
      </p:sp>
      <p:sp>
        <p:nvSpPr>
          <p:cNvPr id="261" name="Google Shape;261;g3e05d493793_2_126"/>
          <p:cNvSpPr txBox="1"/>
          <p:nvPr/>
        </p:nvSpPr>
        <p:spPr>
          <a:xfrm>
            <a:off x="4507992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Files in server load order.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No silent import failures.</a:t>
            </a:r>
          </a:p>
        </p:txBody>
      </p:sp>
      <p:sp>
        <p:nvSpPr>
          <p:cNvPr id="262" name="Google Shape;262;g3e05d493793_2_126"/>
          <p:cNvSpPr/>
          <p:nvPr/>
        </p:nvSpPr>
        <p:spPr>
          <a:xfrm>
            <a:off x="7955279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05d493793_2_126"/>
          <p:cNvSpPr txBox="1"/>
          <p:nvPr/>
        </p:nvSpPr>
        <p:spPr>
          <a:xfrm>
            <a:off x="8119871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21-org schema</a:t>
            </a:r>
          </a:p>
        </p:txBody>
      </p:sp>
      <p:sp>
        <p:nvSpPr>
          <p:cNvPr id="264" name="Google Shape;264;g3e05d493793_2_126"/>
          <p:cNvSpPr txBox="1"/>
          <p:nvPr/>
        </p:nvSpPr>
        <p:spPr>
          <a:xfrm>
            <a:off x="8119871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Reverse-engineered from 21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prod orgs. Zero missed keys.</a:t>
            </a:r>
          </a:p>
        </p:txBody>
      </p:sp>
      <p:sp>
        <p:nvSpPr>
          <p:cNvPr id="265" name="Google Shape;265;g3e05d493793_2_126"/>
          <p:cNvSpPr/>
          <p:nvPr/>
        </p:nvSpPr>
        <p:spPr>
          <a:xfrm>
            <a:off x="731520" y="5074920"/>
            <a:ext cx="10789920" cy="685800"/>
          </a:xfrm>
          <a:prstGeom prst="roundRect">
            <a:avLst>
              <a:gd fmla="val 15000" name="adj"/>
            </a:avLst>
          </a:prstGeom>
          <a:solidFill>
            <a:srgbClr val="FDF6EE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05d493793_2_126"/>
          <p:cNvSpPr txBox="1"/>
          <p:nvPr/>
        </p:nvSpPr>
        <p:spPr>
          <a:xfrm>
            <a:off x="914400" y="51389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Before  —  bundles hand-built in the UI or regenerated from scratch; edits and UUIDs lost.</a:t>
            </a:r>
          </a:p>
        </p:txBody>
      </p:sp>
      <p:sp>
        <p:nvSpPr>
          <p:cNvPr id="267" name="Google Shape;267;g3e05d493793_2_126"/>
          <p:cNvSpPr txBox="1"/>
          <p:nvPr/>
        </p:nvSpPr>
        <p:spPr>
          <a:xfrm>
            <a:off x="914400" y="5431536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Now  —  a versioned spec compiles, round-trips, and patches in place.</a:t>
            </a:r>
          </a:p>
        </p:txBody>
      </p:sp>
      <p:sp>
        <p:nvSpPr>
          <p:cNvPr id="268" name="Google Shape;268;g3e05d493793_2_126"/>
          <p:cNvSpPr txBox="1"/>
          <p:nvPr/>
        </p:nvSpPr>
        <p:spPr>
          <a:xfrm>
            <a:off x="731520" y="598932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The bundle is a build artifact of a spec — not a hand-edited blob.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1" name="Google Shape;241;g3e05d493793_2_126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05d493793_2_126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Building block 2  —  bundle must adhere to a graph</a:t>
            </a:r>
          </a:p>
        </p:txBody>
      </p:sp>
      <p:sp>
        <p:nvSpPr>
          <p:cNvPr id="243" name="Google Shape;243;g3e05d493793_2_126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Stage 1  ·  deterministic  ·  avni-skills</a:t>
            </a:r>
          </a:p>
        </p:txBody>
      </p:sp>
      <p:sp>
        <p:nvSpPr>
          <p:cNvPr id="244" name="Google Shape;244;g3e05d493793_2_12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avni-skills  ·  2 / 5</a:t>
            </a:r>
          </a:p>
        </p:txBody>
      </p:sp>
      <p:sp>
        <p:nvSpPr>
          <p:cNvPr id="245" name="Google Shape;245;g3e05d493793_2_126"/>
          <p:cNvSpPr/>
          <p:nvPr/>
        </p:nvSpPr>
        <p:spPr>
          <a:xfrm>
            <a:off x="731520" y="1371600"/>
            <a:ext cx="10789920" cy="594360"/>
          </a:xfrm>
          <a:prstGeom prst="roundRect">
            <a:avLst>
              <a:gd fmla="val 15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05d493793_2_126"/>
          <p:cNvSpPr txBox="1"/>
          <p:nvPr/>
        </p:nvSpPr>
        <p:spPr>
          <a:xfrm>
            <a:off x="914400" y="144475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Model the bundle as a UUID graph of foreign keys. Then you can ask what depends on what — and catch broken references before the server ever sees them.</a:t>
            </a:r>
          </a:p>
        </p:txBody>
      </p:sp>
      <p:sp>
        <p:nvSpPr>
          <p:cNvPr id="247" name="Google Shape;247;g3e05d493793_2_126"/>
          <p:cNvSpPr/>
          <p:nvPr/>
        </p:nvSpPr>
        <p:spPr>
          <a:xfrm>
            <a:off x="731520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05d493793_2_126"/>
          <p:cNvSpPr txBox="1"/>
          <p:nvPr/>
        </p:nvSpPr>
        <p:spPr>
          <a:xfrm>
            <a:off x="896112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Every entity a node</a:t>
            </a:r>
          </a:p>
        </p:txBody>
      </p:sp>
      <p:sp>
        <p:nvSpPr>
          <p:cNvPr id="249" name="Google Shape;249;g3e05d493793_2_126"/>
          <p:cNvSpPr txBox="1"/>
          <p:nvPr/>
        </p:nvSpPr>
        <p:spPr>
          <a:xfrm>
            <a:off x="896112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Concepts, forms, programs,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mappings — keyed by UUID.</a:t>
            </a:r>
          </a:p>
        </p:txBody>
      </p:sp>
      <p:sp>
        <p:nvSpPr>
          <p:cNvPr id="250" name="Google Shape;250;g3e05d493793_2_126"/>
          <p:cNvSpPr/>
          <p:nvPr/>
        </p:nvSpPr>
        <p:spPr>
          <a:xfrm>
            <a:off x="4343400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05d493793_2_126"/>
          <p:cNvSpPr txBox="1"/>
          <p:nvPr/>
        </p:nvSpPr>
        <p:spPr>
          <a:xfrm>
            <a:off x="4507992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Every link an edge</a:t>
            </a:r>
          </a:p>
        </p:txBody>
      </p:sp>
      <p:sp>
        <p:nvSpPr>
          <p:cNvPr id="252" name="Google Shape;252;g3e05d493793_2_126"/>
          <p:cNvSpPr txBox="1"/>
          <p:nvPr/>
        </p:nvSpPr>
        <p:spPr>
          <a:xfrm>
            <a:off x="4507992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Typed references: form element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→ concept, mapping → program.</a:t>
            </a:r>
          </a:p>
        </p:txBody>
      </p:sp>
      <p:sp>
        <p:nvSpPr>
          <p:cNvPr id="253" name="Google Shape;253;g3e05d493793_2_126"/>
          <p:cNvSpPr/>
          <p:nvPr/>
        </p:nvSpPr>
        <p:spPr>
          <a:xfrm>
            <a:off x="7955279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05d493793_2_126"/>
          <p:cNvSpPr txBox="1"/>
          <p:nvPr/>
        </p:nvSpPr>
        <p:spPr>
          <a:xfrm>
            <a:off x="8119871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Impact check</a:t>
            </a:r>
          </a:p>
        </p:txBody>
      </p:sp>
      <p:sp>
        <p:nvSpPr>
          <p:cNvPr id="255" name="Google Shape;255;g3e05d493793_2_126"/>
          <p:cNvSpPr txBox="1"/>
          <p:nvPr/>
        </p:nvSpPr>
        <p:spPr>
          <a:xfrm>
            <a:off x="8119871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What breaks if I delete this?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See it first.</a:t>
            </a:r>
          </a:p>
        </p:txBody>
      </p:sp>
      <p:sp>
        <p:nvSpPr>
          <p:cNvPr id="256" name="Google Shape;256;g3e05d493793_2_126"/>
          <p:cNvSpPr/>
          <p:nvPr/>
        </p:nvSpPr>
        <p:spPr>
          <a:xfrm>
            <a:off x="731520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05d493793_2_126"/>
          <p:cNvSpPr txBox="1"/>
          <p:nvPr/>
        </p:nvSpPr>
        <p:spPr>
          <a:xfrm>
            <a:off x="896112" y="3749040"/>
            <a:ext cx="319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</a:p>
        </p:txBody>
      </p:sp>
      <p:sp>
        <p:nvSpPr>
          <p:cNvPr id="258" name="Google Shape;258;g3e05d493793_2_126"/>
          <p:cNvSpPr txBox="1"/>
          <p:nvPr/>
        </p:nvSpPr>
        <p:spPr>
          <a:xfrm>
            <a:off x="895987" y="4022170"/>
            <a:ext cx="319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What must already exist</a:t>
            </a:r>
            <a:br/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for this to be valid?</a:t>
            </a:r>
          </a:p>
        </p:txBody>
      </p:sp>
      <p:sp>
        <p:nvSpPr>
          <p:cNvPr id="259" name="Google Shape;259;g3e05d493793_2_126"/>
          <p:cNvSpPr/>
          <p:nvPr/>
        </p:nvSpPr>
        <p:spPr>
          <a:xfrm>
            <a:off x="4343400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05d493793_2_126"/>
          <p:cNvSpPr txBox="1"/>
          <p:nvPr/>
        </p:nvSpPr>
        <p:spPr>
          <a:xfrm>
            <a:off x="4507992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Broken-link scan</a:t>
            </a:r>
          </a:p>
        </p:txBody>
      </p:sp>
      <p:sp>
        <p:nvSpPr>
          <p:cNvPr id="261" name="Google Shape;261;g3e05d493793_2_126"/>
          <p:cNvSpPr txBox="1"/>
          <p:nvPr/>
        </p:nvSpPr>
        <p:spPr>
          <a:xfrm>
            <a:off x="4507992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Flags every reference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to a missing UUID.</a:t>
            </a:r>
          </a:p>
        </p:txBody>
      </p:sp>
      <p:sp>
        <p:nvSpPr>
          <p:cNvPr id="262" name="Google Shape;262;g3e05d493793_2_126"/>
          <p:cNvSpPr/>
          <p:nvPr/>
        </p:nvSpPr>
        <p:spPr>
          <a:xfrm>
            <a:off x="7955279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05d493793_2_126"/>
          <p:cNvSpPr txBox="1"/>
          <p:nvPr/>
        </p:nvSpPr>
        <p:spPr>
          <a:xfrm>
            <a:off x="8119871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Form-type aware</a:t>
            </a:r>
          </a:p>
        </p:txBody>
      </p:sp>
      <p:sp>
        <p:nvSpPr>
          <p:cNvPr id="264" name="Google Shape;264;g3e05d493793_2_126"/>
          <p:cNvSpPr txBox="1"/>
          <p:nvPr/>
        </p:nvSpPr>
        <p:spPr>
          <a:xfrm>
            <a:off x="8119871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Knows a program encounter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needs a program + type.</a:t>
            </a:r>
          </a:p>
        </p:txBody>
      </p:sp>
      <p:sp>
        <p:nvSpPr>
          <p:cNvPr id="265" name="Google Shape;265;g3e05d493793_2_126"/>
          <p:cNvSpPr/>
          <p:nvPr/>
        </p:nvSpPr>
        <p:spPr>
          <a:xfrm>
            <a:off x="731520" y="5074920"/>
            <a:ext cx="10789920" cy="685800"/>
          </a:xfrm>
          <a:prstGeom prst="roundRect">
            <a:avLst>
              <a:gd fmla="val 15000" name="adj"/>
            </a:avLst>
          </a:prstGeom>
          <a:solidFill>
            <a:srgbClr val="FDF6EE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05d493793_2_126"/>
          <p:cNvSpPr txBox="1"/>
          <p:nvPr/>
        </p:nvSpPr>
        <p:spPr>
          <a:xfrm>
            <a:off x="914400" y="51389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Before  —  dangling references slipped through and failed silently on upload.</a:t>
            </a:r>
          </a:p>
        </p:txBody>
      </p:sp>
      <p:sp>
        <p:nvSpPr>
          <p:cNvPr id="267" name="Google Shape;267;g3e05d493793_2_126"/>
          <p:cNvSpPr txBox="1"/>
          <p:nvPr/>
        </p:nvSpPr>
        <p:spPr>
          <a:xfrm>
            <a:off x="914400" y="5431536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Now  —  integrity is checked locally; delete-impact is visible before you act.</a:t>
            </a:r>
          </a:p>
        </p:txBody>
      </p:sp>
      <p:sp>
        <p:nvSpPr>
          <p:cNvPr id="268" name="Google Shape;268;g3e05d493793_2_126"/>
          <p:cNvSpPr txBox="1"/>
          <p:nvPr/>
        </p:nvSpPr>
        <p:spPr>
          <a:xfrm>
            <a:off x="731520" y="598932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Know what breaks before it breaks.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1" name="Google Shape;241;g3e05d493793_2_126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05d493793_2_126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Building block 3  —  knowledge the agent can actually use</a:t>
            </a:r>
          </a:p>
        </p:txBody>
      </p:sp>
      <p:sp>
        <p:nvSpPr>
          <p:cNvPr id="243" name="Google Shape;243;g3e05d493793_2_126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Knowledge corpus  ·  avni-readme · avni-ai · avni-skills</a:t>
            </a:r>
          </a:p>
        </p:txBody>
      </p:sp>
      <p:sp>
        <p:nvSpPr>
          <p:cNvPr id="244" name="Google Shape;244;g3e05d493793_2_12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knowledge base  ·  3 / 5</a:t>
            </a:r>
          </a:p>
        </p:txBody>
      </p:sp>
      <p:sp>
        <p:nvSpPr>
          <p:cNvPr id="245" name="Google Shape;245;g3e05d493793_2_126"/>
          <p:cNvSpPr/>
          <p:nvPr/>
        </p:nvSpPr>
        <p:spPr>
          <a:xfrm>
            <a:off x="731520" y="1371600"/>
            <a:ext cx="10789920" cy="594360"/>
          </a:xfrm>
          <a:prstGeom prst="roundRect">
            <a:avLst>
              <a:gd fmla="val 15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05d493793_2_126"/>
          <p:cNvSpPr txBox="1"/>
          <p:nvPr/>
        </p:nvSpPr>
        <p:spPr>
          <a:xfrm>
            <a:off x="914400" y="144475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Three sources — implementer docs, a merged corpus, and patterns mined from real bundles — compressed into chunked, tagged knowledge the agent pulls on demand.</a:t>
            </a:r>
          </a:p>
        </p:txBody>
      </p:sp>
      <p:sp>
        <p:nvSpPr>
          <p:cNvPr id="247" name="Google Shape;247;g3e05d493793_2_126"/>
          <p:cNvSpPr/>
          <p:nvPr/>
        </p:nvSpPr>
        <p:spPr>
          <a:xfrm>
            <a:off x="731520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05d493793_2_126"/>
          <p:cNvSpPr txBox="1"/>
          <p:nvPr/>
        </p:nvSpPr>
        <p:spPr>
          <a:xfrm>
            <a:off x="896112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Docs as source</a:t>
            </a:r>
          </a:p>
        </p:txBody>
      </p:sp>
      <p:sp>
        <p:nvSpPr>
          <p:cNvPr id="249" name="Google Shape;249;g3e05d493793_2_126"/>
          <p:cNvSpPr txBox="1"/>
          <p:nvPr/>
        </p:nvSpPr>
        <p:spPr>
          <a:xfrm>
            <a:off x="896112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203 implementer guides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(~21k lines) from avni-readme.</a:t>
            </a:r>
          </a:p>
        </p:txBody>
      </p:sp>
      <p:sp>
        <p:nvSpPr>
          <p:cNvPr id="250" name="Google Shape;250;g3e05d493793_2_126"/>
          <p:cNvSpPr/>
          <p:nvPr/>
        </p:nvSpPr>
        <p:spPr>
          <a:xfrm>
            <a:off x="4343400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05d493793_2_126"/>
          <p:cNvSpPr txBox="1"/>
          <p:nvPr/>
        </p:nvSpPr>
        <p:spPr>
          <a:xfrm>
            <a:off x="4507992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Merged corpus</a:t>
            </a:r>
          </a:p>
        </p:txBody>
      </p:sp>
      <p:sp>
        <p:nvSpPr>
          <p:cNvPr id="252" name="Google Shape;252;g3e05d493793_2_126"/>
          <p:cNvSpPr txBox="1"/>
          <p:nvPr/>
        </p:nvSpPr>
        <p:spPr>
          <a:xfrm>
            <a:off x="4507992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Assembled into merged.md —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~557 KB, ~22.5k lines.</a:t>
            </a:r>
          </a:p>
        </p:txBody>
      </p:sp>
      <p:sp>
        <p:nvSpPr>
          <p:cNvPr id="253" name="Google Shape;253;g3e05d493793_2_126"/>
          <p:cNvSpPr/>
          <p:nvPr/>
        </p:nvSpPr>
        <p:spPr>
          <a:xfrm>
            <a:off x="7955279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05d493793_2_126"/>
          <p:cNvSpPr txBox="1"/>
          <p:nvPr/>
        </p:nvSpPr>
        <p:spPr>
          <a:xfrm>
            <a:off x="8119871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Compressed + chunked</a:t>
            </a:r>
          </a:p>
        </p:txBody>
      </p:sp>
      <p:sp>
        <p:nvSpPr>
          <p:cNvPr id="255" name="Google Shape;255;g3e05d493793_2_126"/>
          <p:cNvSpPr txBox="1"/>
          <p:nvPr/>
        </p:nvSpPr>
        <p:spPr>
          <a:xfrm>
            <a:off x="8119871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Split into 68 topic files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with semantic chunks.</a:t>
            </a:r>
          </a:p>
        </p:txBody>
      </p:sp>
      <p:sp>
        <p:nvSpPr>
          <p:cNvPr id="256" name="Google Shape;256;g3e05d493793_2_126"/>
          <p:cNvSpPr/>
          <p:nvPr/>
        </p:nvSpPr>
        <p:spPr>
          <a:xfrm>
            <a:off x="731520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05d493793_2_126"/>
          <p:cNvSpPr txBox="1"/>
          <p:nvPr/>
        </p:nvSpPr>
        <p:spPr>
          <a:xfrm>
            <a:off x="896112" y="3749040"/>
            <a:ext cx="319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Metadata-tagged</a:t>
            </a:r>
          </a:p>
        </p:txBody>
      </p:sp>
      <p:sp>
        <p:nvSpPr>
          <p:cNvPr id="258" name="Google Shape;258;g3e05d493793_2_126"/>
          <p:cNvSpPr txBox="1"/>
          <p:nvPr/>
        </p:nvSpPr>
        <p:spPr>
          <a:xfrm>
            <a:off x="895987" y="4022170"/>
            <a:ext cx="319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Keywords, audience,</a:t>
            </a:r>
            <a:br/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retrieval-boost per chunk.</a:t>
            </a:r>
          </a:p>
        </p:txBody>
      </p:sp>
      <p:sp>
        <p:nvSpPr>
          <p:cNvPr id="259" name="Google Shape;259;g3e05d493793_2_126"/>
          <p:cNvSpPr/>
          <p:nvPr/>
        </p:nvSpPr>
        <p:spPr>
          <a:xfrm>
            <a:off x="4343400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05d493793_2_126"/>
          <p:cNvSpPr txBox="1"/>
          <p:nvPr/>
        </p:nvSpPr>
        <p:spPr>
          <a:xfrm>
            <a:off x="4507992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Patterns from prod</a:t>
            </a:r>
          </a:p>
        </p:txBody>
      </p:sp>
      <p:sp>
        <p:nvSpPr>
          <p:cNvPr id="261" name="Google Shape;261;g3e05d493793_2_126"/>
          <p:cNvSpPr txBox="1"/>
          <p:nvPr/>
        </p:nvSpPr>
        <p:spPr>
          <a:xfrm>
            <a:off x="4507992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4,949 concepts + 132 rule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templates mined from real orgs.</a:t>
            </a:r>
          </a:p>
        </p:txBody>
      </p:sp>
      <p:sp>
        <p:nvSpPr>
          <p:cNvPr id="262" name="Google Shape;262;g3e05d493793_2_126"/>
          <p:cNvSpPr/>
          <p:nvPr/>
        </p:nvSpPr>
        <p:spPr>
          <a:xfrm>
            <a:off x="7955279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05d493793_2_126"/>
          <p:cNvSpPr txBox="1"/>
          <p:nvPr/>
        </p:nvSpPr>
        <p:spPr>
          <a:xfrm>
            <a:off x="8119871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Retrieval-ready</a:t>
            </a:r>
          </a:p>
        </p:txBody>
      </p:sp>
      <p:sp>
        <p:nvSpPr>
          <p:cNvPr id="264" name="Google Shape;264;g3e05d493793_2_126"/>
          <p:cNvSpPr txBox="1"/>
          <p:nvPr/>
        </p:nvSpPr>
        <p:spPr>
          <a:xfrm>
            <a:off x="8119871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Agent pulls the right topic,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not the whole monolith.</a:t>
            </a:r>
          </a:p>
        </p:txBody>
      </p:sp>
      <p:sp>
        <p:nvSpPr>
          <p:cNvPr id="265" name="Google Shape;265;g3e05d493793_2_126"/>
          <p:cNvSpPr/>
          <p:nvPr/>
        </p:nvSpPr>
        <p:spPr>
          <a:xfrm>
            <a:off x="731520" y="5074920"/>
            <a:ext cx="10789920" cy="685800"/>
          </a:xfrm>
          <a:prstGeom prst="roundRect">
            <a:avLst>
              <a:gd fmla="val 15000" name="adj"/>
            </a:avLst>
          </a:prstGeom>
          <a:solidFill>
            <a:srgbClr val="FDF6EE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05d493793_2_126"/>
          <p:cNvSpPr txBox="1"/>
          <p:nvPr/>
        </p:nvSpPr>
        <p:spPr>
          <a:xfrm>
            <a:off x="914400" y="51389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Before  —  one 557 KB monolith; retrieval dragged in noise — ~half was infra/reporting.</a:t>
            </a:r>
          </a:p>
        </p:txBody>
      </p:sp>
      <p:sp>
        <p:nvSpPr>
          <p:cNvPr id="267" name="Google Shape;267;g3e05d493793_2_126"/>
          <p:cNvSpPr txBox="1"/>
          <p:nvPr/>
        </p:nvSpPr>
        <p:spPr>
          <a:xfrm>
            <a:off x="914400" y="5431536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Now  —  68 focused, tagged topics (~96% implementer) + mined patterns.</a:t>
            </a:r>
          </a:p>
        </p:txBody>
      </p:sp>
      <p:sp>
        <p:nvSpPr>
          <p:cNvPr id="268" name="Google Shape;268;g3e05d493793_2_126"/>
          <p:cNvSpPr txBox="1"/>
          <p:nvPr/>
        </p:nvSpPr>
        <p:spPr>
          <a:xfrm>
            <a:off x="731520" y="598932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Compress for retrieval — high signal beats raw volume.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4" name="Google Shape;234;g3e60a615971_2_15"/>
          <p:cNvSpPr/>
          <p:nvPr/>
        </p:nvSpPr>
        <p:spPr>
          <a:xfrm>
            <a:off x="283566" y="85005"/>
            <a:ext cx="109800" cy="640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60a615971_2_15"/>
          <p:cNvSpPr txBox="1"/>
          <p:nvPr/>
        </p:nvSpPr>
        <p:spPr>
          <a:xfrm>
            <a:off x="568061" y="143497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Validator-state injection  +  :model switching mid-session</a:t>
            </a:r>
          </a:p>
        </p:txBody>
      </p:sp>
      <p:pic>
        <p:nvPicPr>
          <p:cNvPr id="236" name="Picture 235" descr="03-validator-state-and-model-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22" y="905256"/>
            <a:ext cx="9451431" cy="59527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1" name="Google Shape;241;g3e05d493793_2_126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05d493793_2_126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Building block 4  —  logged, gated, capped</a:t>
            </a:r>
          </a:p>
        </p:txBody>
      </p:sp>
      <p:sp>
        <p:nvSpPr>
          <p:cNvPr id="243" name="Google Shape;243;g3e05d493793_2_126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Stage 2  ·  agentic SDK  ·  avni-skills-sdk</a:t>
            </a:r>
          </a:p>
        </p:txBody>
      </p:sp>
      <p:sp>
        <p:nvSpPr>
          <p:cNvPr id="244" name="Google Shape;244;g3e05d493793_2_12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avni-skills-sdk  ·  4 / 5</a:t>
            </a:r>
          </a:p>
        </p:txBody>
      </p:sp>
      <p:sp>
        <p:nvSpPr>
          <p:cNvPr id="245" name="Google Shape;245;g3e05d493793_2_126"/>
          <p:cNvSpPr/>
          <p:nvPr/>
        </p:nvSpPr>
        <p:spPr>
          <a:xfrm>
            <a:off x="731520" y="1371600"/>
            <a:ext cx="10789920" cy="594360"/>
          </a:xfrm>
          <a:prstGeom prst="roundRect">
            <a:avLst>
              <a:gd fmla="val 15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05d493793_2_126"/>
          <p:cNvSpPr txBox="1"/>
          <p:nvPr/>
        </p:nvSpPr>
        <p:spPr>
          <a:xfrm>
            <a:off x="914400" y="144475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Assume the agent will try everything. Make every turn recorded, every destructive path blocked, and every dollar capped — by construction, not by trust.</a:t>
            </a:r>
          </a:p>
        </p:txBody>
      </p:sp>
      <p:sp>
        <p:nvSpPr>
          <p:cNvPr id="247" name="Google Shape;247;g3e05d493793_2_126"/>
          <p:cNvSpPr/>
          <p:nvPr/>
        </p:nvSpPr>
        <p:spPr>
          <a:xfrm>
            <a:off x="2529677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05d493793_2_126"/>
          <p:cNvSpPr txBox="1"/>
          <p:nvPr/>
        </p:nvSpPr>
        <p:spPr>
          <a:xfrm>
            <a:off x="2694269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Git-backed history</a:t>
            </a:r>
          </a:p>
        </p:txBody>
      </p:sp>
      <p:sp>
        <p:nvSpPr>
          <p:cNvPr id="249" name="Google Shape;249;g3e05d493793_2_126"/>
          <p:cNvSpPr txBox="1"/>
          <p:nvPr/>
        </p:nvSpPr>
        <p:spPr>
          <a:xfrm>
            <a:off x="2694269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One commit per turn — a git repo.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Diff, revert, or resume any turn.</a:t>
            </a:r>
          </a:p>
        </p:txBody>
      </p:sp>
      <p:sp>
        <p:nvSpPr>
          <p:cNvPr id="250" name="Google Shape;250;g3e05d493793_2_126"/>
          <p:cNvSpPr/>
          <p:nvPr/>
        </p:nvSpPr>
        <p:spPr>
          <a:xfrm>
            <a:off x="6141557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05d493793_2_126"/>
          <p:cNvSpPr txBox="1"/>
          <p:nvPr/>
        </p:nvSpPr>
        <p:spPr>
          <a:xfrm>
            <a:off x="6306149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Audit by construction</a:t>
            </a:r>
          </a:p>
        </p:txBody>
      </p:sp>
      <p:sp>
        <p:nvSpPr>
          <p:cNvPr id="252" name="Google Shape;252;g3e05d493793_2_126"/>
          <p:cNvSpPr txBox="1"/>
          <p:nvPr/>
        </p:nvSpPr>
        <p:spPr>
          <a:xfrm>
            <a:off x="6306149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Validator state in every prompt;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self-corrects on resume; durable.</a:t>
            </a:r>
          </a:p>
        </p:txBody>
      </p:sp>
      <p:sp>
        <p:nvSpPr>
          <p:cNvPr id="256" name="Google Shape;256;g3e05d493793_2_126"/>
          <p:cNvSpPr/>
          <p:nvPr/>
        </p:nvSpPr>
        <p:spPr>
          <a:xfrm>
            <a:off x="2529677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05d493793_2_126"/>
          <p:cNvSpPr txBox="1"/>
          <p:nvPr/>
        </p:nvSpPr>
        <p:spPr>
          <a:xfrm>
            <a:off x="2694269" y="3749040"/>
            <a:ext cx="319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Destructive ops gated</a:t>
            </a:r>
          </a:p>
        </p:txBody>
      </p:sp>
      <p:sp>
        <p:nvSpPr>
          <p:cNvPr id="258" name="Google Shape;258;g3e05d493793_2_126"/>
          <p:cNvSpPr txBox="1"/>
          <p:nvPr/>
        </p:nvSpPr>
        <p:spPr>
          <a:xfrm>
            <a:off x="2694144" y="4022170"/>
            <a:ext cx="319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Hook blocks git / rm -rf / sudo;</a:t>
            </a:r>
            <a:br/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 detector reverts foreign commits.</a:t>
            </a:r>
          </a:p>
        </p:txBody>
      </p:sp>
      <p:sp>
        <p:nvSpPr>
          <p:cNvPr id="259" name="Google Shape;259;g3e05d493793_2_126"/>
          <p:cNvSpPr/>
          <p:nvPr/>
        </p:nvSpPr>
        <p:spPr>
          <a:xfrm>
            <a:off x="6141557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05d493793_2_126"/>
          <p:cNvSpPr txBox="1"/>
          <p:nvPr/>
        </p:nvSpPr>
        <p:spPr>
          <a:xfrm>
            <a:off x="6306149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Cost capped</a:t>
            </a:r>
          </a:p>
        </p:txBody>
      </p:sp>
      <p:sp>
        <p:nvSpPr>
          <p:cNvPr id="261" name="Google Shape;261;g3e05d493793_2_126"/>
          <p:cNvSpPr txBox="1"/>
          <p:nvPr/>
        </p:nvSpPr>
        <p:spPr>
          <a:xfrm>
            <a:off x="6306149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Hard wallet: $5/session, $1/turn;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aborts a no-edit token spree.</a:t>
            </a:r>
          </a:p>
        </p:txBody>
      </p:sp>
      <p:sp>
        <p:nvSpPr>
          <p:cNvPr id="265" name="Google Shape;265;g3e05d493793_2_126"/>
          <p:cNvSpPr/>
          <p:nvPr/>
        </p:nvSpPr>
        <p:spPr>
          <a:xfrm>
            <a:off x="731520" y="5074920"/>
            <a:ext cx="10789920" cy="685800"/>
          </a:xfrm>
          <a:prstGeom prst="roundRect">
            <a:avLst>
              <a:gd fmla="val 15000" name="adj"/>
            </a:avLst>
          </a:prstGeom>
          <a:solidFill>
            <a:srgbClr val="FDF6EE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05d493793_2_126"/>
          <p:cNvSpPr txBox="1"/>
          <p:nvPr/>
        </p:nvSpPr>
        <p:spPr>
          <a:xfrm>
            <a:off x="914400" y="51389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Before  —  state lived in chat memory; an agent could wander or burn the budget.</a:t>
            </a:r>
          </a:p>
        </p:txBody>
      </p:sp>
      <p:sp>
        <p:nvSpPr>
          <p:cNvPr id="267" name="Google Shape;267;g3e05d493793_2_126"/>
          <p:cNvSpPr txBox="1"/>
          <p:nvPr/>
        </p:nvSpPr>
        <p:spPr>
          <a:xfrm>
            <a:off x="914400" y="5431536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Now  —  every turn is git-backed and auditable; destructive paths gated; spend capped.</a:t>
            </a:r>
          </a:p>
        </p:txBody>
      </p:sp>
      <p:sp>
        <p:nvSpPr>
          <p:cNvPr id="268" name="Google Shape;268;g3e05d493793_2_126"/>
          <p:cNvSpPr txBox="1"/>
          <p:nvPr/>
        </p:nvSpPr>
        <p:spPr>
          <a:xfrm>
            <a:off x="731520" y="598932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Audit-rigorous and bounded — by construction.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1" name="Google Shape;241;g3e05d493793_2_126"/>
          <p:cNvSpPr/>
          <p:nvPr/>
        </p:nvSpPr>
        <p:spPr>
          <a:xfrm>
            <a:off x="457200" y="411480"/>
            <a:ext cx="109728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05d493793_2_126"/>
          <p:cNvSpPr txBox="1"/>
          <p:nvPr/>
        </p:nvSpPr>
        <p:spPr>
          <a:xfrm>
            <a:off x="731520" y="3474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Building block 5  —  prefer the tools, observe everything</a:t>
            </a:r>
          </a:p>
        </p:txBody>
      </p:sp>
      <p:sp>
        <p:nvSpPr>
          <p:cNvPr id="243" name="Google Shape;243;g3e05d493793_2_126"/>
          <p:cNvSpPr txBox="1"/>
          <p:nvPr/>
        </p:nvSpPr>
        <p:spPr>
          <a:xfrm>
            <a:off x="731520" y="8412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Stage 2  ·  agentic SDK  ·  avni-skills-sdk</a:t>
            </a:r>
          </a:p>
        </p:txBody>
      </p:sp>
      <p:sp>
        <p:nvSpPr>
          <p:cNvPr id="244" name="Google Shape;244;g3e05d493793_2_12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avni-skills-sdk  ·  5 / 5</a:t>
            </a:r>
          </a:p>
        </p:txBody>
      </p:sp>
      <p:sp>
        <p:nvSpPr>
          <p:cNvPr id="245" name="Google Shape;245;g3e05d493793_2_126"/>
          <p:cNvSpPr/>
          <p:nvPr/>
        </p:nvSpPr>
        <p:spPr>
          <a:xfrm>
            <a:off x="731520" y="1371600"/>
            <a:ext cx="10789920" cy="594360"/>
          </a:xfrm>
          <a:prstGeom prst="roundRect">
            <a:avLst>
              <a:gd fmla="val 15000" name="adj"/>
            </a:avLst>
          </a:prstGeom>
          <a:solidFill>
            <a:srgbClr val="F7F9FA"/>
          </a:solidFill>
          <a:ln cap="flat" cmpd="sng" w="158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05d493793_2_126"/>
          <p:cNvSpPr txBox="1"/>
          <p:nvPr/>
        </p:nvSpPr>
        <p:spPr>
          <a:xfrm>
            <a:off x="914400" y="144475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Give the agent purpose-built tools it reaches for instead of raw shell — and make everything it does observable, three ways.</a:t>
            </a:r>
          </a:p>
        </p:txBody>
      </p:sp>
      <p:sp>
        <p:nvSpPr>
          <p:cNvPr id="247" name="Google Shape;247;g3e05d493793_2_126"/>
          <p:cNvSpPr/>
          <p:nvPr/>
        </p:nvSpPr>
        <p:spPr>
          <a:xfrm>
            <a:off x="2529677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05d493793_2_126"/>
          <p:cNvSpPr txBox="1"/>
          <p:nvPr/>
        </p:nvSpPr>
        <p:spPr>
          <a:xfrm>
            <a:off x="2694269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Prefer tools over shell</a:t>
            </a:r>
          </a:p>
        </p:txBody>
      </p:sp>
      <p:sp>
        <p:nvSpPr>
          <p:cNvPr id="249" name="Google Shape;249;g3e05d493793_2_126"/>
          <p:cNvSpPr txBox="1"/>
          <p:nvPr/>
        </p:nvSpPr>
        <p:spPr>
          <a:xfrm>
            <a:off x="2694269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Four in-process bundle tools: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validate, find-concept, summary, export.</a:t>
            </a:r>
          </a:p>
        </p:txBody>
      </p:sp>
      <p:sp>
        <p:nvSpPr>
          <p:cNvPr id="250" name="Google Shape;250;g3e05d493793_2_126"/>
          <p:cNvSpPr/>
          <p:nvPr/>
        </p:nvSpPr>
        <p:spPr>
          <a:xfrm>
            <a:off x="6141557" y="214884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05d493793_2_126"/>
          <p:cNvSpPr txBox="1"/>
          <p:nvPr/>
        </p:nvSpPr>
        <p:spPr>
          <a:xfrm>
            <a:off x="6306149" y="228600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Determinism on rails</a:t>
            </a:r>
          </a:p>
        </p:txBody>
      </p:sp>
      <p:sp>
        <p:nvSpPr>
          <p:cNvPr id="252" name="Google Shape;252;g3e05d493793_2_126"/>
          <p:cNvSpPr txBox="1"/>
          <p:nvPr/>
        </p:nvSpPr>
        <p:spPr>
          <a:xfrm>
            <a:off x="6306149" y="269748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Deterministic :summary handles routine;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LLM :eval audits the gaps.</a:t>
            </a:r>
          </a:p>
        </p:txBody>
      </p:sp>
      <p:sp>
        <p:nvSpPr>
          <p:cNvPr id="256" name="Google Shape;256;g3e05d493793_2_126"/>
          <p:cNvSpPr/>
          <p:nvPr/>
        </p:nvSpPr>
        <p:spPr>
          <a:xfrm>
            <a:off x="2529677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05d493793_2_126"/>
          <p:cNvSpPr txBox="1"/>
          <p:nvPr/>
        </p:nvSpPr>
        <p:spPr>
          <a:xfrm>
            <a:off x="2694269" y="3749040"/>
            <a:ext cx="319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Captured three ways</a:t>
            </a:r>
          </a:p>
        </p:txBody>
      </p:sp>
      <p:sp>
        <p:nvSpPr>
          <p:cNvPr id="258" name="Google Shape;258;g3e05d493793_2_126"/>
          <p:cNvSpPr txBox="1"/>
          <p:nvPr/>
        </p:nvSpPr>
        <p:spPr>
          <a:xfrm>
            <a:off x="2694144" y="4022170"/>
            <a:ext cx="319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On-disk JSONL, live HTTP</a:t>
            </a:r>
            <a:br/>
            <a:r>
              <a:rPr lang="en-US" sz="125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endpoints, and REPL commands.</a:t>
            </a:r>
          </a:p>
        </p:txBody>
      </p:sp>
      <p:sp>
        <p:nvSpPr>
          <p:cNvPr id="259" name="Google Shape;259;g3e05d493793_2_126"/>
          <p:cNvSpPr/>
          <p:nvPr/>
        </p:nvSpPr>
        <p:spPr>
          <a:xfrm>
            <a:off x="6141557" y="3611880"/>
            <a:ext cx="3520440" cy="1325880"/>
          </a:xfrm>
          <a:prstGeom prst="roundRect">
            <a:avLst>
              <a:gd fmla="val 8000" name="adj"/>
            </a:avLst>
          </a:prstGeom>
          <a:solidFill>
            <a:srgbClr val="F7F9FA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05d493793_2_126"/>
          <p:cNvSpPr txBox="1"/>
          <p:nvPr/>
        </p:nvSpPr>
        <p:spPr>
          <a:xfrm>
            <a:off x="6306149" y="3749040"/>
            <a:ext cx="31912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See it live</a:t>
            </a:r>
          </a:p>
        </p:txBody>
      </p:sp>
      <p:sp>
        <p:nvSpPr>
          <p:cNvPr id="261" name="Google Shape;261;g3e05d493793_2_126"/>
          <p:cNvSpPr txBox="1"/>
          <p:nvPr/>
        </p:nvSpPr>
        <p:spPr>
          <a:xfrm>
            <a:off x="6306149" y="4160520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 live dashboard: per-agent</a:t>
            </a:r>
            <a:br/>
            <a:r>
              <a:rPr b="0" i="0" lang="en-US" sz="125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cost and failures by category.</a:t>
            </a:r>
          </a:p>
        </p:txBody>
      </p:sp>
      <p:sp>
        <p:nvSpPr>
          <p:cNvPr id="265" name="Google Shape;265;g3e05d493793_2_126"/>
          <p:cNvSpPr/>
          <p:nvPr/>
        </p:nvSpPr>
        <p:spPr>
          <a:xfrm>
            <a:off x="731520" y="5074920"/>
            <a:ext cx="10789920" cy="685800"/>
          </a:xfrm>
          <a:prstGeom prst="roundRect">
            <a:avLst>
              <a:gd fmla="val 15000" name="adj"/>
            </a:avLst>
          </a:prstGeom>
          <a:solidFill>
            <a:srgbClr val="FDF6EE"/>
          </a:solidFill>
          <a:ln cap="flat" cmpd="sng" w="9525">
            <a:solidFill>
              <a:srgbClr val="C77C0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05d493793_2_126"/>
          <p:cNvSpPr txBox="1"/>
          <p:nvPr/>
        </p:nvSpPr>
        <p:spPr>
          <a:xfrm>
            <a:off x="914400" y="51389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Before  —  the agent improvised with shell; runs were opaque and hard to debug.</a:t>
            </a:r>
          </a:p>
        </p:txBody>
      </p:sp>
      <p:sp>
        <p:nvSpPr>
          <p:cNvPr id="267" name="Google Shape;267;g3e05d493793_2_126"/>
          <p:cNvSpPr txBox="1"/>
          <p:nvPr/>
        </p:nvSpPr>
        <p:spPr>
          <a:xfrm>
            <a:off x="914400" y="5431536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Now  —  it prefers a few bundle tools, and every action is logged, served, inspectable.</a:t>
            </a:r>
          </a:p>
        </p:txBody>
      </p:sp>
      <p:sp>
        <p:nvSpPr>
          <p:cNvPr id="268" name="Google Shape;268;g3e05d493793_2_126"/>
          <p:cNvSpPr txBox="1"/>
          <p:nvPr/>
        </p:nvSpPr>
        <p:spPr>
          <a:xfrm>
            <a:off x="731520" y="5989320"/>
            <a:ext cx="106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Deterministic checks on rails; LLM judgement only in the gaps.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4" name="Google Shape;234;g3e60a615971_2_15"/>
          <p:cNvSpPr/>
          <p:nvPr/>
        </p:nvSpPr>
        <p:spPr>
          <a:xfrm>
            <a:off x="283566" y="85005"/>
            <a:ext cx="109800" cy="640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60a615971_2_15"/>
          <p:cNvSpPr txBox="1"/>
          <p:nvPr/>
        </p:nvSpPr>
        <p:spPr>
          <a:xfrm>
            <a:off x="568061" y="143497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Regression detection  +  :eval LLM semantic audit</a:t>
            </a:r>
          </a:p>
        </p:txBody>
      </p:sp>
      <p:pic>
        <p:nvPicPr>
          <p:cNvPr id="236" name="Picture 235" descr="05-regression-and-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649" y="905256"/>
            <a:ext cx="9440377" cy="59527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4" name="Google Shape;234;g3e60a615971_2_15"/>
          <p:cNvSpPr/>
          <p:nvPr/>
        </p:nvSpPr>
        <p:spPr>
          <a:xfrm>
            <a:off x="283566" y="85005"/>
            <a:ext cx="109800" cy="640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60a615971_2_15"/>
          <p:cNvSpPr txBox="1"/>
          <p:nvPr/>
        </p:nvSpPr>
        <p:spPr>
          <a:xfrm>
            <a:off x="568061" y="143497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One bundle, end to end  ·  :zip export  ·  $0.13</a:t>
            </a:r>
          </a:p>
        </p:txBody>
      </p:sp>
      <p:pic>
        <p:nvPicPr>
          <p:cNvPr id="236" name="Picture 235" descr="02-success-and-z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62" y="905256"/>
            <a:ext cx="10929150" cy="5952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